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82" r:id="rId2"/>
    <p:sldId id="287" r:id="rId3"/>
    <p:sldId id="332" r:id="rId4"/>
    <p:sldId id="334" r:id="rId5"/>
    <p:sldId id="293" r:id="rId6"/>
    <p:sldId id="337" r:id="rId7"/>
    <p:sldId id="323" r:id="rId8"/>
    <p:sldId id="342" r:id="rId9"/>
    <p:sldId id="341" r:id="rId10"/>
    <p:sldId id="340" r:id="rId11"/>
  </p:sldIdLst>
  <p:sldSz cx="12188825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9" autoAdjust="0"/>
  </p:normalViewPr>
  <p:slideViewPr>
    <p:cSldViewPr>
      <p:cViewPr varScale="1">
        <p:scale>
          <a:sx n="78" d="100"/>
          <a:sy n="78" d="100"/>
        </p:scale>
        <p:origin x="878" y="67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3186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2446EEE-9F74-414C-8CF3-76F72C6C9CBB}" type="datetime1">
              <a:rPr lang="es-ES" smtClean="0"/>
              <a:t>14/10/2026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es-ES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8FC2AD-8B93-45A4-8827-85E82B2F4F55}" type="datetime1">
              <a:rPr lang="es-ES" noProof="0" smtClean="0"/>
              <a:t>14/10/2026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 dirty="0"/>
              <a:t>Editar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 rtlCol="0">
            <a:noAutofit/>
          </a:bodyPr>
          <a:lstStyle>
            <a:lvl1pPr rtl="0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256" name="línea" descr="Gráfico de líneas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orma libre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58" name="Forma libre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59" name="Forma libre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0" name="Forma libre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1" name="Forma libre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2" name="Forma libre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3" name="Forma libre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4" name="Forma libre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5" name="Forma libre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6" name="Forma libre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7" name="Forma libre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8" name="Forma libre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9" name="Forma libre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0" name="Forma libre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1" name="Forma libre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2" name="Forma libre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3" name="Forma libre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4" name="Forma libre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5" name="Forma libre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6" name="Forma libre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7" name="Forma libre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8" name="Forma libre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9" name="Forma libre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0" name="Forma libre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1" name="Forma libre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2" name="Forma libre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3" name="Forma libre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4" name="Forma libre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5" name="Forma libre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6" name="Forma libre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7" name="Forma libre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8" name="Forma libre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9" name="Forma libre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0" name="Forma libre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1" name="Forma libre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2" name="Forma libre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3" name="Forma libre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4" name="Forma libre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5" name="Forma libre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6" name="Forma libre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7" name="Forma libre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8" name="Forma libre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9" name="Forma libre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0" name="Forma libre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1" name="Forma libre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2" name="Forma libre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3" name="Forma libre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4" name="Forma libre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5" name="Forma libre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6" name="Forma libre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7" name="Forma libre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8" name="Forma libre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9" name="Forma libre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0" name="Forma libre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1" name="Forma libre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2" name="Forma libre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3" name="Forma libre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4" name="Forma libre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5" name="Forma libre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6" name="Forma libre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7" name="Forma libre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8" name="Forma libre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9" name="Forma libre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0" name="Forma libre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1" name="Forma libre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2" name="Forma libre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3" name="Forma libre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4" name="Forma libre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5" name="Forma libre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6" name="Forma libre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7" name="Forma libre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8" name="Forma libre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9" name="Forma libre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0" name="Forma libre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1" name="Forma libre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2" name="Forma libre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3" name="Forma libre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4" name="Forma libre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5" name="Forma libre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6" name="Forma libre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7" name="Forma libre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8" name="Forma libre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9" name="Forma libre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0" name="Forma libre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1" name="Forma libre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2" name="Forma libre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3" name="Forma libre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4" name="Forma libre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5" name="Forma libre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6" name="Forma libre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7" name="Forma libre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8" name="Forma libre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9" name="Forma libre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0" name="Forma libre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1" name="Forma libre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2" name="Forma libre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3" name="Forma libre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4" name="Forma libre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5" name="Forma libre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6" name="Forma libre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7" name="Forma libre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8" name="Forma libre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9" name="Forma libre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0" name="Forma libre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1" name="Forma libre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2" name="Forma libre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3" name="Forma libre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4" name="Forma libre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5" name="Forma libre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6" name="Forma libre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7" name="Forma libre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8" name="Forma libre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9" name="Forma libre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0" name="Forma libre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1" name="Forma libre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2" name="Forma libre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3" name="Forma libre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4" name="Forma libre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5" name="Forma libre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6" name="Forma libre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7" name="Forma libre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8" name="Forma libre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9" name="Forma libre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</p:grp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67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orma lib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9" name="Forma lib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0" name="Forma lib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1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2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3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4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5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6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7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8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9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0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1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2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3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4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5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6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7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8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9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0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1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2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3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4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5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6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7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8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9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0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1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2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3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4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5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6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7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8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9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0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1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2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3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4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5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6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7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8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9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0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1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2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3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4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5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6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7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8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9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0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1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2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3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4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5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6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7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8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9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40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41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ACC39B-F8AD-4C56-AD8F-A56798AE1A49}" type="datetime1">
              <a:rPr lang="es-ES" noProof="0" smtClean="0"/>
              <a:t>14/10/2026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rtlCol="0" anchor="b">
            <a:noAutofit/>
          </a:bodyPr>
          <a:lstStyle>
            <a:lvl1pPr algn="l" rtl="0">
              <a:defRPr sz="4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255" name="línea" descr="Gráfico de líneas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orma libre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57" name="Forma libre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58" name="Forma libre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59" name="Forma libre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0" name="Forma libre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1" name="Forma libre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2" name="Forma libre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3" name="Forma libre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4" name="Forma libre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5" name="Forma libre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6" name="Forma libre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7" name="Forma libre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8" name="Forma libre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9" name="Forma libre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0" name="Forma libre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1" name="Forma libre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2" name="Forma libre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3" name="Forma libre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4" name="Forma libre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5" name="Forma libre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6" name="Forma libre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7" name="Forma libre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8" name="Forma libre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9" name="Forma libre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0" name="Forma libre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1" name="Forma libre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2" name="Forma libre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3" name="Forma libre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4" name="Forma libre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5" name="Forma libre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6" name="Forma libre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7" name="Forma libre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8" name="Forma libre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9" name="Forma libre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0" name="Forma libre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1" name="Forma libre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2" name="Forma libre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3" name="Forma libre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4" name="Forma libre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5" name="Forma libre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6" name="Forma libre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7" name="Forma libre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8" name="Forma libre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9" name="Forma libre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0" name="Forma libre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1" name="Forma libre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2" name="Forma libre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3" name="Forma libre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4" name="Forma libre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5" name="Forma libre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6" name="Forma libre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7" name="Forma libre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8" name="Forma libre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9" name="Forma libre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0" name="Forma libre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1" name="Forma libre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2" name="Forma libre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3" name="Forma libre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4" name="Forma libre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5" name="Forma libre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6" name="Forma libre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7" name="Forma libre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8" name="Forma libre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9" name="Forma libre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0" name="Forma libre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1" name="Forma libre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2" name="Forma libre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3" name="Forma libre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4" name="Forma libre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5" name="Forma libre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6" name="Forma libre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7" name="Forma libre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8" name="Forma libre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9" name="Forma libre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0" name="Forma libre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1" name="Forma libre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2" name="Forma libre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3" name="Forma libre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4" name="Forma libre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5" name="Forma libre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6" name="Forma libre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7" name="Forma libre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8" name="Forma libre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9" name="Forma libre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0" name="Forma libre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1" name="Forma libre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2" name="Forma libre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3" name="Forma libre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4" name="Forma libre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5" name="Forma libre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6" name="Forma libre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7" name="Forma libre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8" name="Forma libre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9" name="Forma libre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0" name="Forma libre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1" name="Forma libre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2" name="Forma libre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3" name="Forma libre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4" name="Forma libre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5" name="Forma libre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6" name="Forma libre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7" name="Forma libre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8" name="Forma libre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9" name="Forma libre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0" name="Forma libre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1" name="Forma libre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2" name="Forma libre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3" name="Forma libre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4" name="Forma libre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5" name="Forma libre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6" name="Forma libre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7" name="Forma libre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8" name="Forma libre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9" name="Forma libre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0" name="Forma libre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1" name="Forma libre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2" name="Forma libre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3" name="Forma libre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4" name="Forma libre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5" name="Forma libre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6" name="Forma libre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7" name="Forma libre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8" name="Forma libre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</p:grp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A5F5A5-C1AF-4E1F-BBE9-77A0324E6A16}" type="datetime1">
              <a:rPr lang="es-ES" noProof="0" smtClean="0"/>
              <a:t>14/10/2026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58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orma lib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0" name="Forma lib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1" name="Forma lib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2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3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4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5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6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7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8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9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0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1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2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3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4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5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6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7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8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9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0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1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2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3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4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5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6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7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8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9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0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1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2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3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4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5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6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7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8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9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0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1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2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3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4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5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6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7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8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9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0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1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2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3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4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5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6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7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8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9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0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1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2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3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4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5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6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7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8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9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0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1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2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BAF46A-8BB1-4F24-A11E-0306615E93F5}" type="datetime1">
              <a:rPr lang="es-ES" noProof="0" smtClean="0"/>
              <a:t>14/10/2026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60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orma libre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2" name="Forma libre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3" name="Forma libre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4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5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6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7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8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9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0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1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2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3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4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5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6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7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8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9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0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1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2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3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4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5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6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7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8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9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0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1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2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3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4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5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6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7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8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9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0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1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2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3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4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5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6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7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8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9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0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1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2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3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4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5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6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7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8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9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0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1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2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3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4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5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6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7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8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9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0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1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2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3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4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829AD9-EA14-4AE8-BB2F-1A8BF56A3E5B}" type="datetime1">
              <a:rPr lang="es-ES" noProof="0" smtClean="0"/>
              <a:t>14/10/2026</a:t>
            </a:fld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  <p:sp>
        <p:nvSpPr>
          <p:cNvPr id="85" name="Marcador de posición de contenido 3"/>
          <p:cNvSpPr>
            <a:spLocks noGrp="1"/>
          </p:cNvSpPr>
          <p:nvPr>
            <p:ph sz="half" idx="13"/>
          </p:nvPr>
        </p:nvSpPr>
        <p:spPr>
          <a:xfrm>
            <a:off x="6246812" y="2819400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56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orma lib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58" name="Forma lib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59" name="Forma lib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0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1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2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3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4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5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6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7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8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9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0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1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2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3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4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5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6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7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8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9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0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1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2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3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4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5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6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7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8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9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0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1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2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3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4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5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6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7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8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9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0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1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2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3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4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5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6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7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8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9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0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1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2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3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4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5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6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7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8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9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0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1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2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3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4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5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6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7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8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9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0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96EFD6-A265-4329-83FB-237234CCC851}" type="datetime1">
              <a:rPr lang="es-ES" noProof="0" smtClean="0"/>
              <a:t>14/10/2026</a:t>
            </a:fld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EEC8E5-6135-4EEA-A5FA-4E382F0E51FD}" type="datetime1">
              <a:rPr lang="es-ES" noProof="0" smtClean="0"/>
              <a:t>14/10/2026</a:t>
            </a:fld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 rtl="0">
              <a:defRPr sz="32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grpSp>
        <p:nvGrpSpPr>
          <p:cNvPr id="615" name="marco" descr="Gráfico de cuadro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upo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upo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orma libre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Forma libre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Forma libre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7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upo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orma libre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Forma libre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Forma libre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3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upo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upo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orma libre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Forma libre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Forma libre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7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upo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orma libre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Forma libre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Forma libre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3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EAA01AB-145F-4AE5-A1D5-362BC05CA7CC}" type="datetime1">
              <a:rPr lang="es-ES" noProof="0" smtClean="0"/>
              <a:t>14/10/2026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 rtl="0">
              <a:defRPr sz="32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 descr="Marcador de posición vacío para agregar una imagen. Haga clic en el marcador de posición y seleccione la imagen que quiera agregar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grpSp>
        <p:nvGrpSpPr>
          <p:cNvPr id="614" name="marco" descr="Gráfico de cuadro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upo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upo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orma libre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4" name="Forma libre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Forma libre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upo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orma libre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0" name="Forma libre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Forma libre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upo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upo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orma libre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4" name="Forma libre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Forma libre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upo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orma libre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0" name="Forma libre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Forma libre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Forma libre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Forma libre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Forma libre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Forma libre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Forma libre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Forma libre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Forma libre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Forma libre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Forma libre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Forma libre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Forma libre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Forma libre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Forma libre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Forma libre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Forma libre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Forma libre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Forma libre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Forma libre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Forma libre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Forma libre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Forma libre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Forma libre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Forma libre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Forma libre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Forma libre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Forma libre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Forma libre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Forma libre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Forma libre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Forma libre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Forma libre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Forma libre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Forma libre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Forma libre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Forma libre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Forma libre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Forma libre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Forma libre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Forma libre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Forma libre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Forma libre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Forma libre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Forma libre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Forma libre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Forma libre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Forma libre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Forma libre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Forma libre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Forma libre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Forma libre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Forma libre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Forma libre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Forma libre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Forma libre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Forma libre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Forma libre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Forma libre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Forma libre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Forma libre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Forma libre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Forma libre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Forma libre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Forma libre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Forma libre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Forma libre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Forma libre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Forma libre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Forma libre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Forma libre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Forma libre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Forma libre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D16348-E405-42B1-89B5-964AA77FE073}" type="datetime1">
              <a:rPr lang="es-ES" noProof="0" smtClean="0"/>
              <a:t>14/10/2026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7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orma libre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9" name="Forma libre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0" name="Forma libre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1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2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3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4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5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4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5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6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7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8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9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0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1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2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3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4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5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6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7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8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9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0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1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2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3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4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5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6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7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8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9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0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1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2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3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4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5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6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7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8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9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0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1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2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3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4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5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6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7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8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9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0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1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2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3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4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5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6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7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8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9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80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81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22E2A2-B648-4842-9ED5-8E4D1828D625}" type="datetime1">
              <a:rPr lang="es-ES" noProof="0" smtClean="0"/>
              <a:t>14/10/2026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7" name="línea" descr="Gráfico de líneas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orma lib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9" name="Forma lib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0" name="Forma lib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1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2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3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4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5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4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5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6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7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8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9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0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1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2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3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4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5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6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7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8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9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0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1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2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3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4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5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6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7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8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9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0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1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2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3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4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5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6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7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8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9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0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1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2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3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4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5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6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7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8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9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0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1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2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3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4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5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6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7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8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9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80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81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608012" y="277813"/>
            <a:ext cx="9144001" cy="5898573"/>
          </a:xfrm>
        </p:spPr>
        <p:txBody>
          <a:bodyPr vert="eaVert" rtlCol="0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6AB9F2-CD8F-42EB-A63E-2B03D1B74C56}" type="datetime1">
              <a:rPr lang="es-ES" noProof="0" smtClean="0"/>
              <a:t>14/10/2026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dirty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EA5BF5C-F4C1-4C94-BD5F-F847F8EB8117}" type="datetime1">
              <a:rPr lang="es-ES" noProof="0" smtClean="0"/>
              <a:t>14/10/2026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5BA54BD-C84D-46CE-8B72-31BFB26ABA43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5CD61-4570-193D-E825-FC6121AA5E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Forecasting de demanda eléctrica en España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9BFF77-21FD-9DC3-8CD9-BADBB2197D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sz="1600" dirty="0">
                <a:solidFill>
                  <a:srgbClr val="B2B2B2"/>
                </a:solidFill>
              </a:rPr>
              <a:t>Alan Vignolo · Operaciones de Aprendizaje de Máquina II — CEIA/FIUBA · 15/10/2026</a:t>
            </a:r>
          </a:p>
        </p:txBody>
      </p:sp>
    </p:spTree>
    <p:extLst>
      <p:ext uri="{BB962C8B-B14F-4D97-AF65-F5344CB8AC3E}">
        <p14:creationId xmlns:p14="http://schemas.microsoft.com/office/powerpoint/2010/main" val="4051829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056EC-B24D-CB3A-092B-4A40D4A6C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Objetivo modelo: predecir la demanda eléctrica horaria real de España</a:t>
            </a:r>
          </a:p>
        </p:txBody>
      </p:sp>
      <p:sp>
        <p:nvSpPr>
          <p:cNvPr id="100" name="Tarjeta 1"/>
          <p:cNvSpPr/>
          <p:nvPr/>
        </p:nvSpPr>
        <p:spPr>
          <a:xfrm>
            <a:off x="1524000" y="1778000"/>
            <a:ext cx="2844800" cy="33655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57BCE5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01" name="Encabezado 1"/>
          <p:cNvSpPr/>
          <p:nvPr/>
        </p:nvSpPr>
        <p:spPr>
          <a:xfrm>
            <a:off x="1574800" y="26416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800" b="1" dirty="0">
                <a:solidFill>
                  <a:srgbClr val="FFFFFF"/>
                </a:solidFill>
                <a:latin typeface="+mj-lt"/>
              </a:rPr>
              <a:t>Qué predecimos</a:t>
            </a:r>
          </a:p>
        </p:txBody>
      </p:sp>
      <p:sp>
        <p:nvSpPr>
          <p:cNvPr id="102" name="Texto 1"/>
          <p:cNvSpPr/>
          <p:nvPr/>
        </p:nvSpPr>
        <p:spPr>
          <a:xfrm>
            <a:off x="1574800" y="3098800"/>
            <a:ext cx="2743200" cy="19685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50800" rIns="127000" bIns="508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2000" b="0" dirty="0">
                <a:solidFill>
                  <a:srgbClr val="57BCE5"/>
                </a:solidFill>
                <a:latin typeface="+mj-lt"/>
              </a:rPr>
              <a:t>total load actual</a:t>
            </a:r>
          </a:p>
          <a:p>
            <a:pPr marL="0" indent="0" algn="l">
              <a:lnSpc>
                <a:spcPct val="95000"/>
              </a:lnSpc>
              <a:spcBef>
                <a:spcPts val="800"/>
              </a:spcBef>
              <a:buNone/>
            </a:pPr>
            <a:r>
              <a:rPr lang="es-ES" sz="1600" b="0" dirty="0">
                <a:solidFill>
                  <a:srgbClr val="FFFFFF"/>
                </a:solidFill>
              </a:rPr>
              <a:t>Demanda eléctrica horaria real de España, en MW</a:t>
            </a:r>
          </a:p>
        </p:txBody>
      </p:sp>
      <p:sp>
        <p:nvSpPr>
          <p:cNvPr id="103" name="Tarjeta 2"/>
          <p:cNvSpPr/>
          <p:nvPr/>
        </p:nvSpPr>
        <p:spPr>
          <a:xfrm>
            <a:off x="4673600" y="1778000"/>
            <a:ext cx="2844800" cy="336550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B2B2B2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04" name="Encabezado 2"/>
          <p:cNvSpPr/>
          <p:nvPr/>
        </p:nvSpPr>
        <p:spPr>
          <a:xfrm>
            <a:off x="4724400" y="26416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800" b="1" dirty="0">
                <a:solidFill>
                  <a:srgbClr val="FFFFFF"/>
                </a:solidFill>
                <a:latin typeface="+mj-lt"/>
              </a:rPr>
              <a:t>Con qué datos</a:t>
            </a:r>
          </a:p>
        </p:txBody>
      </p:sp>
      <p:sp>
        <p:nvSpPr>
          <p:cNvPr id="105" name="Texto 2"/>
          <p:cNvSpPr/>
          <p:nvPr/>
        </p:nvSpPr>
        <p:spPr>
          <a:xfrm>
            <a:off x="4724400" y="3098800"/>
            <a:ext cx="2794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50800" rIns="127000" bIns="50800" rtlCol="0" anchor="t">
            <a:noAutofit/>
          </a:bodyPr>
          <a:lstStyle/>
          <a:p>
            <a:pPr marL="228600" indent="-228600" algn="l">
              <a:lnSpc>
                <a:spcPct val="95000"/>
              </a:lnSpc>
              <a:spcBef>
                <a:spcPts val="0"/>
              </a:spcBef>
              <a:buFont typeface="Arial"/>
              <a:buChar char="▪"/>
            </a:pPr>
            <a:r>
              <a:rPr lang="es-ES" sz="1600" b="0" dirty="0">
                <a:solidFill>
                  <a:srgbClr val="FFFFFF"/>
                </a:solidFill>
              </a:rPr>
              <a:t>ENTSO-E 2015–2018: generación, precios y demanda por hora</a:t>
            </a:r>
          </a:p>
          <a:p>
            <a:pPr marL="228600" indent="-228600" algn="l">
              <a:lnSpc>
                <a:spcPct val="95000"/>
              </a:lnSpc>
              <a:spcBef>
                <a:spcPts val="800"/>
              </a:spcBef>
              <a:buFont typeface="Arial"/>
              <a:buChar char="▪"/>
            </a:pPr>
            <a:r>
              <a:rPr lang="es-ES" sz="1600" b="0" dirty="0">
                <a:solidFill>
                  <a:srgbClr val="FFFFFF"/>
                </a:solidFill>
              </a:rPr>
              <a:t>Clima horario de 5 ciudades: Madrid, Barcelona, Valencia, Sevilla y Bilbao</a:t>
            </a:r>
          </a:p>
        </p:txBody>
      </p:sp>
      <p:sp>
        <p:nvSpPr>
          <p:cNvPr id="106" name="Tarjeta 3"/>
          <p:cNvSpPr/>
          <p:nvPr/>
        </p:nvSpPr>
        <p:spPr>
          <a:xfrm>
            <a:off x="7823200" y="1778000"/>
            <a:ext cx="2844800" cy="336550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B2B2B2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07" name="Encabezado 3"/>
          <p:cNvSpPr/>
          <p:nvPr/>
        </p:nvSpPr>
        <p:spPr>
          <a:xfrm>
            <a:off x="7874000" y="26416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800" b="1" dirty="0">
                <a:solidFill>
                  <a:srgbClr val="FFFFFF"/>
                </a:solidFill>
                <a:latin typeface="+mj-lt"/>
              </a:rPr>
              <a:t>Por qué ENTSO-E</a:t>
            </a:r>
          </a:p>
        </p:txBody>
      </p:sp>
      <p:sp>
        <p:nvSpPr>
          <p:cNvPr id="108" name="Texto 3"/>
          <p:cNvSpPr/>
          <p:nvPr/>
        </p:nvSpPr>
        <p:spPr>
          <a:xfrm>
            <a:off x="7873999" y="3098800"/>
            <a:ext cx="2790825" cy="19685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50800" rIns="127000" bIns="50800" rtlCol="0" anchor="t">
            <a:noAutofit/>
          </a:bodyPr>
          <a:lstStyle/>
          <a:p>
            <a:pPr marL="228600" indent="-228600" algn="l">
              <a:lnSpc>
                <a:spcPct val="95000"/>
              </a:lnSpc>
              <a:spcBef>
                <a:spcPts val="0"/>
              </a:spcBef>
              <a:buFont typeface="Arial"/>
              <a:buChar char="▪"/>
            </a:pPr>
            <a:r>
              <a:rPr lang="es-ES" sz="1600" b="0" dirty="0">
                <a:solidFill>
                  <a:srgbClr val="FFFFFF"/>
                </a:solidFill>
              </a:rPr>
              <a:t>Clima real por ciudad, no un promedio nacional</a:t>
            </a:r>
          </a:p>
          <a:p>
            <a:pPr marL="228600" indent="-228600" algn="l">
              <a:lnSpc>
                <a:spcPct val="95000"/>
              </a:lnSpc>
              <a:spcBef>
                <a:spcPts val="800"/>
              </a:spcBef>
              <a:buFont typeface="Arial"/>
              <a:buChar char="▪"/>
            </a:pPr>
            <a:r>
              <a:rPr lang="es-ES" sz="1600" b="0" dirty="0">
                <a:solidFill>
                  <a:srgbClr val="FFFFFF"/>
                </a:solidFill>
              </a:rPr>
              <a:t>Incluye el forecast oficial del TSO como benchmark</a:t>
            </a:r>
          </a:p>
        </p:txBody>
      </p:sp>
      <p:sp>
        <p:nvSpPr>
          <p:cNvPr id="109" name="Partición"/>
          <p:cNvSpPr/>
          <p:nvPr/>
        </p:nvSpPr>
        <p:spPr>
          <a:xfrm>
            <a:off x="1524000" y="5334000"/>
            <a:ext cx="914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762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600" b="0" dirty="0">
                <a:solidFill>
                  <a:srgbClr val="D9D9D9"/>
                </a:solidFill>
              </a:rPr>
              <a:t>Entrenamiento: 2015–2017 (~26.000 horas)  ·  Test: 2018 completo</a:t>
            </a:r>
          </a:p>
        </p:txBody>
      </p:sp>
      <p:pic>
        <p:nvPicPr>
          <p:cNvPr id="110" name="Graphic 110" descr="Demanda eléctric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1800" y="1981200"/>
            <a:ext cx="558800" cy="558800"/>
          </a:xfrm>
          <a:prstGeom prst="rect">
            <a:avLst/>
          </a:prstGeom>
        </p:spPr>
      </p:pic>
      <p:pic>
        <p:nvPicPr>
          <p:cNvPr id="111" name="Graphic 111" descr="Datos de clim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1400" y="1981200"/>
            <a:ext cx="558800" cy="558800"/>
          </a:xfrm>
          <a:prstGeom prst="rect">
            <a:avLst/>
          </a:prstGeom>
        </p:spPr>
      </p:pic>
      <p:pic>
        <p:nvPicPr>
          <p:cNvPr id="112" name="Graphic 112" descr="Bench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1000" y="19812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321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F25EA-9B82-F382-F8AA-FC55FA3D5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Random Forest tuneado ganó: MAE 1736.8 MW y MAPE 6.00% en 2018</a:t>
            </a:r>
          </a:p>
        </p:txBody>
      </p:sp>
      <p:graphicFrame>
        <p:nvGraphicFramePr>
          <p:cNvPr id="100" name="Tabla modelos"/>
          <p:cNvGraphicFramePr>
            <a:graphicFrameLocks noGrp="1"/>
          </p:cNvGraphicFramePr>
          <p:nvPr/>
        </p:nvGraphicFramePr>
        <p:xfrm>
          <a:off x="1524000" y="1841500"/>
          <a:ext cx="5778500" cy="2667000"/>
        </p:xfrm>
        <a:graphic>
          <a:graphicData uri="http://schemas.openxmlformats.org/drawingml/2006/table">
            <a:tbl>
              <a:tblPr firstRow="1"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800" b="1" dirty="0">
                          <a:solidFill>
                            <a:srgbClr val="D9D9D9"/>
                          </a:solidFill>
                        </a:rPr>
                        <a:t>Modelo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1" dirty="0">
                          <a:solidFill>
                            <a:srgbClr val="D9D9D9"/>
                          </a:solidFill>
                        </a:rPr>
                        <a:t>MAE (MW)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1" dirty="0">
                          <a:solidFill>
                            <a:srgbClr val="D9D9D9"/>
                          </a:solidFill>
                        </a:rPr>
                        <a:t>MAPE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800" b="1" dirty="0">
                          <a:solidFill>
                            <a:srgbClr val="FFFFFF"/>
                          </a:solidFill>
                        </a:rPr>
                        <a:t>Regresión lineal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587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0" dirty="0">
                          <a:solidFill>
                            <a:srgbClr val="FFFFFF"/>
                          </a:solidFill>
                        </a:rPr>
                        <a:t>2098.4 MW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587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0" dirty="0">
                          <a:solidFill>
                            <a:srgbClr val="FFFFFF"/>
                          </a:solidFill>
                        </a:rPr>
                        <a:t>7.27%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587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800" b="1" dirty="0">
                          <a:solidFill>
                            <a:srgbClr val="FFFFFF"/>
                          </a:solidFill>
                        </a:rPr>
                        <a:t>LightGBM (tuneado)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0" dirty="0">
                          <a:solidFill>
                            <a:srgbClr val="FFFFFF"/>
                          </a:solidFill>
                        </a:rPr>
                        <a:t>1794.9 MW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0" dirty="0">
                          <a:solidFill>
                            <a:srgbClr val="FFFFFF"/>
                          </a:solidFill>
                        </a:rPr>
                        <a:t>6.23%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800" b="1" dirty="0">
                          <a:solidFill>
                            <a:srgbClr val="FFFFFF"/>
                          </a:solidFill>
                        </a:rPr>
                        <a:t>Gradient Boosting (tuneado)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0" dirty="0">
                          <a:solidFill>
                            <a:srgbClr val="FFFFFF"/>
                          </a:solidFill>
                        </a:rPr>
                        <a:t>1786.5 MW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0" dirty="0">
                          <a:solidFill>
                            <a:srgbClr val="FFFFFF"/>
                          </a:solidFill>
                        </a:rPr>
                        <a:t>6.19%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800" b="1" dirty="0">
                          <a:solidFill>
                            <a:srgbClr val="57BCE5"/>
                          </a:solidFill>
                        </a:rPr>
                        <a:t>Random Forest (tuneado)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57BCE5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1" dirty="0">
                          <a:solidFill>
                            <a:srgbClr val="57BCE5"/>
                          </a:solidFill>
                        </a:rPr>
                        <a:t>1736.8 MW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57BCE5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1" dirty="0">
                          <a:solidFill>
                            <a:srgbClr val="57BCE5"/>
                          </a:solidFill>
                        </a:rPr>
                        <a:t>6.00%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57BCE5">
                        <a:alpha val="1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1" name="Por qué ganó"/>
          <p:cNvSpPr txBox="1"/>
          <p:nvPr/>
        </p:nvSpPr>
        <p:spPr>
          <a:xfrm>
            <a:off x="1524000" y="4927600"/>
            <a:ext cx="914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50800" rIns="127000" bIns="508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600" b="1" dirty="0">
                <a:solidFill>
                  <a:srgbClr val="57BCE5"/>
                </a:solidFill>
              </a:rPr>
              <a:t>Por qué ganó: </a:t>
            </a:r>
            <a:r>
              <a:rPr lang="es-ES" sz="1600" b="0" dirty="0">
                <a:solidFill>
                  <a:srgbClr val="FFFFFF"/>
                </a:solidFill>
              </a:rPr>
              <a:t>con ~26.000 filas de entrenamiento, Random Forest fue más robusto; el boosting suele superarlo, pero es más sensible a una búsqueda de hiperparámetros no exhaustiva.</a:t>
            </a:r>
          </a:p>
        </p:txBody>
      </p:sp>
      <p:sp>
        <p:nvSpPr>
          <p:cNvPr id="102" name="Nota TSO"/>
          <p:cNvSpPr txBox="1"/>
          <p:nvPr/>
        </p:nvSpPr>
        <p:spPr>
          <a:xfrm>
            <a:off x="1524000" y="5918200"/>
            <a:ext cx="914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25400" rIns="127000" bIns="254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200" b="0" dirty="0">
                <a:solidFill>
                  <a:srgbClr val="D9D9D9"/>
                </a:solidFill>
              </a:rPr>
              <a:t>Todos los modelos sin total load forecast, evaluados sobre test 2018. Referencia no comparable: el forecast oficial del TSO logra MAE ~270 MW usando información que este proyecto no tiene.</a:t>
            </a:r>
          </a:p>
        </p:txBody>
      </p:sp>
      <p:sp>
        <p:nvSpPr>
          <p:cNvPr id="110" name="Antes leakage"/>
          <p:cNvSpPr/>
          <p:nvPr/>
        </p:nvSpPr>
        <p:spPr>
          <a:xfrm>
            <a:off x="7620000" y="1841500"/>
            <a:ext cx="3048000" cy="2667000"/>
          </a:xfrm>
          <a:prstGeom prst="rect">
            <a:avLst/>
          </a:prstGeom>
          <a:solidFill>
            <a:srgbClr val="F4D968">
              <a:alpha val="8000"/>
            </a:srgbClr>
          </a:solidFill>
          <a:ln w="12700">
            <a:solidFill>
              <a:srgbClr val="F4D968"/>
            </a:solidFill>
          </a:ln>
        </p:spPr>
        <p:txBody>
          <a:bodyPr wrap="square" lIns="177800" tIns="152400" rIns="177800" bIns="15240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800" b="1" dirty="0">
                <a:solidFill>
                  <a:srgbClr val="F4D968"/>
                </a:solidFill>
              </a:rPr>
              <a:t>Antes de este resultado</a:t>
            </a:r>
          </a:p>
          <a:p>
            <a:pPr marL="0" indent="0">
              <a:lnSpc>
                <a:spcPct val="95000"/>
              </a:lnSpc>
              <a:spcBef>
                <a:spcPts val="600"/>
              </a:spcBef>
              <a:buNone/>
            </a:pPr>
            <a:r>
              <a:rPr lang="es-ES" sz="1700" b="0" dirty="0">
                <a:solidFill>
                  <a:srgbClr val="FFFFFF"/>
                </a:solidFill>
              </a:rPr>
              <a:t>La primera versión copiaba al TSO: </a:t>
            </a:r>
            <a:r>
              <a:rPr lang="es-ES" sz="1700" b="1" dirty="0">
                <a:solidFill>
                  <a:srgbClr val="F4D968"/>
                </a:solidFill>
              </a:rPr>
              <a:t>99.24%</a:t>
            </a:r>
            <a:r>
              <a:rPr lang="es-ES" sz="1700" b="0" dirty="0">
                <a:solidFill>
                  <a:srgbClr val="FFFFFF"/>
                </a:solidFill>
              </a:rPr>
              <a:t> de la importancia en una sola variable.</a:t>
            </a:r>
          </a:p>
          <a:p>
            <a:pPr marL="0" indent="0">
              <a:lnSpc>
                <a:spcPct val="95000"/>
              </a:lnSpc>
              <a:spcBef>
                <a:spcPts val="600"/>
              </a:spcBef>
              <a:buNone/>
            </a:pPr>
            <a:r>
              <a:rPr lang="es-ES" sz="1700" b="0" dirty="0">
                <a:solidFill>
                  <a:srgbClr val="FFFFFF"/>
                </a:solidFill>
              </a:rPr>
              <a:t>Se sacó esa columna y se reentrenó.</a:t>
            </a:r>
          </a:p>
        </p:txBody>
      </p:sp>
    </p:spTree>
    <p:extLst>
      <p:ext uri="{BB962C8B-B14F-4D97-AF65-F5344CB8AC3E}">
        <p14:creationId xmlns:p14="http://schemas.microsoft.com/office/powerpoint/2010/main" val="1268462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DC005E-CF14-BCBB-032B-70D3B593C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13 servicios alrededor de un modelo registrado en MLflow</a:t>
            </a:r>
          </a:p>
        </p:txBody>
      </p:sp>
      <p:sp>
        <p:nvSpPr>
          <p:cNvPr id="100" name="Grupo Orquestación"/>
          <p:cNvSpPr/>
          <p:nvPr/>
        </p:nvSpPr>
        <p:spPr>
          <a:xfrm>
            <a:off x="1524000" y="1676400"/>
            <a:ext cx="2286000" cy="281940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B2B2B2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01" name="Encabezado Orquestación"/>
          <p:cNvSpPr/>
          <p:nvPr/>
        </p:nvSpPr>
        <p:spPr>
          <a:xfrm>
            <a:off x="1524000" y="1727200"/>
            <a:ext cx="228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5080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600" b="1" dirty="0">
                <a:solidFill>
                  <a:srgbClr val="FFFFFF"/>
                </a:solidFill>
              </a:rPr>
              <a:t>Orquestación</a:t>
            </a:r>
          </a:p>
        </p:txBody>
      </p:sp>
      <p:sp>
        <p:nvSpPr>
          <p:cNvPr id="102" name="Servicio airflow-scheduler"/>
          <p:cNvSpPr/>
          <p:nvPr/>
        </p:nvSpPr>
        <p:spPr>
          <a:xfrm>
            <a:off x="1651000" y="2209800"/>
            <a:ext cx="2032000" cy="431800"/>
          </a:xfrm>
          <a:prstGeom prst="roundRect">
            <a:avLst/>
          </a:prstGeom>
          <a:solidFill>
            <a:srgbClr val="FFFFFF">
              <a:alpha val="11000"/>
            </a:srgbClr>
          </a:solidFill>
          <a:ln>
            <a:noFill/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airflow-scheduler</a:t>
            </a:r>
          </a:p>
        </p:txBody>
      </p:sp>
      <p:sp>
        <p:nvSpPr>
          <p:cNvPr id="103" name="Servicio airflow-webserver"/>
          <p:cNvSpPr/>
          <p:nvPr/>
        </p:nvSpPr>
        <p:spPr>
          <a:xfrm>
            <a:off x="1651000" y="2768600"/>
            <a:ext cx="2032000" cy="431800"/>
          </a:xfrm>
          <a:prstGeom prst="roundRect">
            <a:avLst/>
          </a:prstGeom>
          <a:solidFill>
            <a:srgbClr val="FFFFFF">
              <a:alpha val="11000"/>
            </a:srgbClr>
          </a:solidFill>
          <a:ln>
            <a:noFill/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airflow-webserver</a:t>
            </a:r>
          </a:p>
        </p:txBody>
      </p:sp>
      <p:sp>
        <p:nvSpPr>
          <p:cNvPr id="104" name="Servicio airflow-init"/>
          <p:cNvSpPr/>
          <p:nvPr/>
        </p:nvSpPr>
        <p:spPr>
          <a:xfrm>
            <a:off x="1651000" y="3327400"/>
            <a:ext cx="2032000" cy="431800"/>
          </a:xfrm>
          <a:prstGeom prst="roundRect">
            <a:avLst/>
          </a:prstGeom>
          <a:solidFill>
            <a:srgbClr val="FFFFFF">
              <a:alpha val="11000"/>
            </a:srgbClr>
          </a:solidFill>
          <a:ln>
            <a:noFill/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airflow-init</a:t>
            </a:r>
          </a:p>
        </p:txBody>
      </p:sp>
      <p:sp>
        <p:nvSpPr>
          <p:cNvPr id="105" name="Servicio postgres-airflow"/>
          <p:cNvSpPr/>
          <p:nvPr/>
        </p:nvSpPr>
        <p:spPr>
          <a:xfrm>
            <a:off x="1651000" y="3886200"/>
            <a:ext cx="2032000" cy="431800"/>
          </a:xfrm>
          <a:prstGeom prst="roundRect">
            <a:avLst/>
          </a:prstGeom>
          <a:solidFill>
            <a:srgbClr val="FFFFFF">
              <a:alpha val="11000"/>
            </a:srgbClr>
          </a:solidFill>
          <a:ln>
            <a:noFill/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postgres-airflow</a:t>
            </a:r>
          </a:p>
        </p:txBody>
      </p:sp>
      <p:sp>
        <p:nvSpPr>
          <p:cNvPr id="106" name="Grupo Modelo y linaje"/>
          <p:cNvSpPr/>
          <p:nvPr/>
        </p:nvSpPr>
        <p:spPr>
          <a:xfrm>
            <a:off x="4953000" y="1676400"/>
            <a:ext cx="2286000" cy="281940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57BCE5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07" name="Encabezado Modelo y linaje"/>
          <p:cNvSpPr/>
          <p:nvPr/>
        </p:nvSpPr>
        <p:spPr>
          <a:xfrm>
            <a:off x="4953000" y="1727200"/>
            <a:ext cx="228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5080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600" b="1" dirty="0">
                <a:solidFill>
                  <a:srgbClr val="57BCE5"/>
                </a:solidFill>
              </a:rPr>
              <a:t>Modelo y linaje</a:t>
            </a:r>
          </a:p>
        </p:txBody>
      </p:sp>
      <p:sp>
        <p:nvSpPr>
          <p:cNvPr id="108" name="Servicio mlflow"/>
          <p:cNvSpPr/>
          <p:nvPr/>
        </p:nvSpPr>
        <p:spPr>
          <a:xfrm>
            <a:off x="5080000" y="2209800"/>
            <a:ext cx="2032000" cy="431800"/>
          </a:xfrm>
          <a:prstGeom prst="roundRect">
            <a:avLst/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mlflow</a:t>
            </a:r>
          </a:p>
        </p:txBody>
      </p:sp>
      <p:sp>
        <p:nvSpPr>
          <p:cNvPr id="109" name="Servicio minio"/>
          <p:cNvSpPr/>
          <p:nvPr/>
        </p:nvSpPr>
        <p:spPr>
          <a:xfrm>
            <a:off x="5080000" y="2768600"/>
            <a:ext cx="2032000" cy="431800"/>
          </a:xfrm>
          <a:prstGeom prst="roundRect">
            <a:avLst/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minio</a:t>
            </a:r>
          </a:p>
        </p:txBody>
      </p:sp>
      <p:sp>
        <p:nvSpPr>
          <p:cNvPr id="110" name="Servicio postgres"/>
          <p:cNvSpPr/>
          <p:nvPr/>
        </p:nvSpPr>
        <p:spPr>
          <a:xfrm>
            <a:off x="5080000" y="3327400"/>
            <a:ext cx="2032000" cy="431800"/>
          </a:xfrm>
          <a:prstGeom prst="roundRect">
            <a:avLst/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postgres</a:t>
            </a:r>
          </a:p>
        </p:txBody>
      </p:sp>
      <p:sp>
        <p:nvSpPr>
          <p:cNvPr id="111" name="Servicio neo4j"/>
          <p:cNvSpPr/>
          <p:nvPr/>
        </p:nvSpPr>
        <p:spPr>
          <a:xfrm>
            <a:off x="5080000" y="3886200"/>
            <a:ext cx="2032000" cy="431800"/>
          </a:xfrm>
          <a:prstGeom prst="roundRect">
            <a:avLst/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neo4j</a:t>
            </a:r>
          </a:p>
        </p:txBody>
      </p:sp>
      <p:sp>
        <p:nvSpPr>
          <p:cNvPr id="112" name="Grupo Servicio"/>
          <p:cNvSpPr/>
          <p:nvPr/>
        </p:nvSpPr>
        <p:spPr>
          <a:xfrm>
            <a:off x="8382000" y="1676400"/>
            <a:ext cx="2286000" cy="281940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B2B2B2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13" name="Encabezado Servicio"/>
          <p:cNvSpPr/>
          <p:nvPr/>
        </p:nvSpPr>
        <p:spPr>
          <a:xfrm>
            <a:off x="8382000" y="1727200"/>
            <a:ext cx="228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5080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600" b="1" dirty="0">
                <a:solidFill>
                  <a:srgbClr val="FFFFFF"/>
                </a:solidFill>
              </a:rPr>
              <a:t>Servicio</a:t>
            </a:r>
          </a:p>
        </p:txBody>
      </p:sp>
      <p:sp>
        <p:nvSpPr>
          <p:cNvPr id="114" name="Servicio api (REST)"/>
          <p:cNvSpPr/>
          <p:nvPr/>
        </p:nvSpPr>
        <p:spPr>
          <a:xfrm>
            <a:off x="8509000" y="2184400"/>
            <a:ext cx="2032000" cy="381000"/>
          </a:xfrm>
          <a:prstGeom prst="roundRect">
            <a:avLst/>
          </a:prstGeom>
          <a:solidFill>
            <a:srgbClr val="FFFFFF">
              <a:alpha val="11000"/>
            </a:srgbClr>
          </a:solidFill>
          <a:ln>
            <a:noFill/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api (REST)</a:t>
            </a:r>
          </a:p>
        </p:txBody>
      </p:sp>
      <p:sp>
        <p:nvSpPr>
          <p:cNvPr id="115" name="Servicio grpc-api"/>
          <p:cNvSpPr/>
          <p:nvPr/>
        </p:nvSpPr>
        <p:spPr>
          <a:xfrm>
            <a:off x="8509000" y="2628900"/>
            <a:ext cx="2032000" cy="381000"/>
          </a:xfrm>
          <a:prstGeom prst="roundRect">
            <a:avLst/>
          </a:prstGeom>
          <a:solidFill>
            <a:srgbClr val="FFFFFF">
              <a:alpha val="11000"/>
            </a:srgbClr>
          </a:solidFill>
          <a:ln>
            <a:noFill/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grpc-api</a:t>
            </a:r>
          </a:p>
        </p:txBody>
      </p:sp>
      <p:sp>
        <p:nvSpPr>
          <p:cNvPr id="116" name="Servicio redpanda"/>
          <p:cNvSpPr/>
          <p:nvPr/>
        </p:nvSpPr>
        <p:spPr>
          <a:xfrm>
            <a:off x="8509000" y="3073400"/>
            <a:ext cx="2032000" cy="381000"/>
          </a:xfrm>
          <a:prstGeom prst="roundRect">
            <a:avLst/>
          </a:prstGeom>
          <a:solidFill>
            <a:srgbClr val="FFFFFF">
              <a:alpha val="11000"/>
            </a:srgbClr>
          </a:solidFill>
          <a:ln>
            <a:noFill/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redpanda</a:t>
            </a:r>
          </a:p>
        </p:txBody>
      </p:sp>
      <p:sp>
        <p:nvSpPr>
          <p:cNvPr id="131" name="Servicio streaming-consumer"/>
          <p:cNvSpPr/>
          <p:nvPr/>
        </p:nvSpPr>
        <p:spPr>
          <a:xfrm>
            <a:off x="8509000" y="3517900"/>
            <a:ext cx="2032000" cy="381000"/>
          </a:xfrm>
          <a:prstGeom prst="roundRect">
            <a:avLst/>
          </a:prstGeom>
          <a:solidFill>
            <a:srgbClr val="FFFFFF">
              <a:alpha val="11000"/>
            </a:srgbClr>
          </a:solidFill>
          <a:ln>
            <a:noFill/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streaming-consumer</a:t>
            </a:r>
          </a:p>
        </p:txBody>
      </p:sp>
      <p:sp>
        <p:nvSpPr>
          <p:cNvPr id="117" name="Servicio graphql-api"/>
          <p:cNvSpPr/>
          <p:nvPr/>
        </p:nvSpPr>
        <p:spPr>
          <a:xfrm>
            <a:off x="8509000" y="3962400"/>
            <a:ext cx="2032000" cy="381000"/>
          </a:xfrm>
          <a:prstGeom prst="roundRect">
            <a:avLst/>
          </a:prstGeom>
          <a:solidFill>
            <a:srgbClr val="FFFFFF">
              <a:alpha val="11000"/>
            </a:srgbClr>
          </a:solidFill>
          <a:ln>
            <a:noFill/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graphql-api</a:t>
            </a:r>
          </a:p>
        </p:txBody>
      </p:sp>
      <p:cxnSp>
        <p:nvCxnSpPr>
          <p:cNvPr id="118" name="Flecha 118"/>
          <p:cNvCxnSpPr/>
          <p:nvPr/>
        </p:nvCxnSpPr>
        <p:spPr>
          <a:xfrm>
            <a:off x="3810000" y="2425700"/>
            <a:ext cx="1143000" cy="0"/>
          </a:xfrm>
          <a:prstGeom prst="straightConnector1">
            <a:avLst/>
          </a:prstGeom>
          <a:ln w="19050">
            <a:solidFill>
              <a:srgbClr val="D9D9D9"/>
            </a:solidFill>
            <a:tailEnd type="triangle" w="med" len="med"/>
          </a:ln>
        </p:spPr>
      </p:cxnSp>
      <p:sp>
        <p:nvSpPr>
          <p:cNvPr id="119" name="Etiqueta reentrena y registra"/>
          <p:cNvSpPr/>
          <p:nvPr/>
        </p:nvSpPr>
        <p:spPr>
          <a:xfrm>
            <a:off x="3810000" y="18923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0" rIns="25400" bIns="25400" rtlCol="0" anchor="b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200" b="0" dirty="0">
                <a:solidFill>
                  <a:srgbClr val="D9D9D9"/>
                </a:solidFill>
              </a:rPr>
              <a:t>reentrena y registra</a:t>
            </a:r>
          </a:p>
        </p:txBody>
      </p:sp>
      <p:cxnSp>
        <p:nvCxnSpPr>
          <p:cNvPr id="120" name="Flecha 120"/>
          <p:cNvCxnSpPr/>
          <p:nvPr/>
        </p:nvCxnSpPr>
        <p:spPr>
          <a:xfrm>
            <a:off x="7239000" y="2425700"/>
            <a:ext cx="1143000" cy="0"/>
          </a:xfrm>
          <a:prstGeom prst="straightConnector1">
            <a:avLst/>
          </a:prstGeom>
          <a:ln w="19050">
            <a:solidFill>
              <a:srgbClr val="57BCE5"/>
            </a:solidFill>
            <a:tailEnd type="triangle" w="med" len="med"/>
          </a:ln>
        </p:spPr>
      </p:cxnSp>
      <p:sp>
        <p:nvSpPr>
          <p:cNvPr id="121" name="Etiqueta carga el modelo"/>
          <p:cNvSpPr/>
          <p:nvPr/>
        </p:nvSpPr>
        <p:spPr>
          <a:xfrm>
            <a:off x="7239000" y="18923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0" rIns="25400" bIns="25400" rtlCol="0" anchor="b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200" b="0" dirty="0">
                <a:solidFill>
                  <a:srgbClr val="D9D9D9"/>
                </a:solidFill>
              </a:rPr>
              <a:t>carga el modelo</a:t>
            </a:r>
          </a:p>
        </p:txBody>
      </p:sp>
      <p:cxnSp>
        <p:nvCxnSpPr>
          <p:cNvPr id="122" name="Flecha 122"/>
          <p:cNvCxnSpPr/>
          <p:nvPr/>
        </p:nvCxnSpPr>
        <p:spPr>
          <a:xfrm>
            <a:off x="7239000" y="4152900"/>
            <a:ext cx="1143000" cy="0"/>
          </a:xfrm>
          <a:prstGeom prst="straightConnector1">
            <a:avLst/>
          </a:prstGeom>
          <a:ln w="19050">
            <a:solidFill>
              <a:srgbClr val="D9D9D9"/>
            </a:solidFill>
            <a:tailEnd type="triangle" w="med" len="med"/>
          </a:ln>
        </p:spPr>
      </p:cxnSp>
      <p:sp>
        <p:nvSpPr>
          <p:cNvPr id="123" name="Etiqueta linaje"/>
          <p:cNvSpPr/>
          <p:nvPr/>
        </p:nvSpPr>
        <p:spPr>
          <a:xfrm>
            <a:off x="7239000" y="36195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0" rIns="25400" bIns="25400" rtlCol="0" anchor="b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200" b="0" dirty="0">
                <a:solidFill>
                  <a:srgbClr val="D9D9D9"/>
                </a:solidFill>
              </a:rPr>
              <a:t>linaje</a:t>
            </a:r>
          </a:p>
        </p:txBody>
      </p:sp>
      <p:sp>
        <p:nvSpPr>
          <p:cNvPr id="124" name="Nota consumo"/>
          <p:cNvSpPr/>
          <p:nvPr/>
        </p:nvSpPr>
        <p:spPr>
          <a:xfrm>
            <a:off x="1524000" y="5003800"/>
            <a:ext cx="5588000" cy="147320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B2B2B2"/>
            </a:solidFill>
          </a:ln>
        </p:spPr>
        <p:txBody>
          <a:bodyPr wrap="square" lIns="177800" tIns="127000" rIns="177800" bIns="1270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600" b="1" dirty="0">
                <a:solidFill>
                  <a:srgbClr val="FFFFFF"/>
                </a:solidFill>
              </a:rPr>
              <a:t>Las 3 APIs y streaming-consumer</a:t>
            </a:r>
            <a:r>
              <a:rPr lang="es-ES" sz="1600" b="0" dirty="0">
                <a:solidFill>
                  <a:srgbClr val="FFFFFF"/>
                </a:solidFill>
              </a:rPr>
              <a:t> leen el modelo de mlflow → minio. </a:t>
            </a:r>
            <a:r>
              <a:rPr lang="es-ES" sz="1600" b="0" dirty="0">
                <a:solidFill>
                  <a:srgbClr val="FFFFFF"/>
                </a:solidFill>
                <a:latin typeface="+mj-lt"/>
              </a:rPr>
              <a:t>redpanda</a:t>
            </a:r>
            <a:r>
              <a:rPr lang="es-ES" sz="1600" b="0" dirty="0">
                <a:solidFill>
                  <a:srgbClr val="FFFFFF"/>
                </a:solidFill>
              </a:rPr>
              <a:t> lleva los eventos a streaming-consumer, un servicio permanente que escucha el topic como las APIs; el DAG publica al bucket </a:t>
            </a:r>
            <a:r>
              <a:rPr lang="es-ES" sz="1600" b="0" dirty="0">
                <a:solidFill>
                  <a:srgbClr val="FFFFFF"/>
                </a:solidFill>
                <a:latin typeface="+mj-lt"/>
              </a:rPr>
              <a:t>datalake</a:t>
            </a:r>
            <a:r>
              <a:rPr lang="es-ES" sz="1600" b="0" dirty="0">
                <a:solidFill>
                  <a:srgbClr val="FFFFFF"/>
                </a:solidFill>
              </a:rPr>
              <a:t>, separado del de MLflow.</a:t>
            </a:r>
          </a:p>
        </p:txBody>
      </p:sp>
      <p:sp>
        <p:nvSpPr>
          <p:cNvPr id="125" name="Federado aparte"/>
          <p:cNvSpPr/>
          <p:nvPr/>
        </p:nvSpPr>
        <p:spPr>
          <a:xfrm>
            <a:off x="7366000" y="5003800"/>
            <a:ext cx="3302000" cy="1473200"/>
          </a:xfrm>
          <a:prstGeom prst="rect">
            <a:avLst/>
          </a:prstGeom>
          <a:noFill/>
          <a:ln w="12700">
            <a:solidFill>
              <a:srgbClr val="B2B2B2"/>
            </a:solidFill>
            <a:prstDash val="dash"/>
          </a:ln>
        </p:spPr>
        <p:txBody>
          <a:bodyPr wrap="square" lIns="177800" tIns="127000" rIns="177800" bIns="1270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600" b="1" dirty="0">
                <a:solidFill>
                  <a:srgbClr val="F4D968"/>
                </a:solidFill>
              </a:rPr>
              <a:t>Fuera del compose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ES" sz="1600" b="0" dirty="0">
                <a:solidFill>
                  <a:srgbClr val="FFFFFF"/>
                </a:solidFill>
              </a:rPr>
              <a:t>Entrenamiento federado</a:t>
            </a:r>
          </a:p>
        </p:txBody>
      </p:sp>
      <p:sp>
        <p:nvSpPr>
          <p:cNvPr id="130" name="Nota Airflow"/>
          <p:cNvSpPr txBox="1"/>
          <p:nvPr/>
        </p:nvSpPr>
        <p:spPr>
          <a:xfrm>
            <a:off x="1524000" y="4597400"/>
            <a:ext cx="914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marL="0" indent="0">
              <a:buNone/>
            </a:pPr>
            <a:r>
              <a:rPr lang="es-ES" sz="1400" b="1" dirty="0">
                <a:solidFill>
                  <a:srgbClr val="57BCE5"/>
                </a:solidFill>
              </a:rPr>
              <a:t>Airflow: </a:t>
            </a:r>
            <a:r>
              <a:rPr lang="es-ES" sz="1400" b="0" dirty="0">
                <a:solidFill>
                  <a:srgbClr val="D9D9D9"/>
                </a:solidFill>
              </a:rPr>
              <a:t>reentrena en un venv aislado.</a:t>
            </a:r>
          </a:p>
        </p:txBody>
      </p:sp>
    </p:spTree>
    <p:extLst>
      <p:ext uri="{BB962C8B-B14F-4D97-AF65-F5344CB8AC3E}">
        <p14:creationId xmlns:p14="http://schemas.microsoft.com/office/powerpoint/2010/main" val="2999051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DC0FC-A727-5A60-DCC2-91FAD3D5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REST y GraphQL sirven el mismo modelo; GraphQL agrega linaje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860B6E-8663-B992-80E8-93438984B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2000" b="1" dirty="0">
                <a:latin typeface="+mj-lt"/>
              </a:rPr>
              <a:t>REST · FastAPI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83AE3C8-FE01-DFD5-1074-4EFFD6D8B1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>
              <a:spcBef>
                <a:spcPts val="1800"/>
              </a:spcBef>
            </a:pPr>
            <a:r>
              <a:rPr lang="es-ES" sz="2000" b="0" dirty="0"/>
              <a:t>Contrato estándar: JSON sobre HTTP, fácil de consumir desde cualquier cliente</a:t>
            </a:r>
          </a:p>
          <a:p>
            <a:pPr>
              <a:spcBef>
                <a:spcPts val="1800"/>
              </a:spcBef>
            </a:pPr>
            <a:r>
              <a:rPr lang="es-ES" sz="2000" b="0" dirty="0"/>
              <a:t>Latencia medida: </a:t>
            </a:r>
            <a:r>
              <a:rPr lang="es-ES" sz="2000" b="1" dirty="0"/>
              <a:t>media 212.20 ms</a:t>
            </a:r>
            <a:r>
              <a:rPr lang="es-ES" sz="2000" b="0" dirty="0"/>
              <a:t>, mediana 95.40 ms</a:t>
            </a:r>
          </a:p>
          <a:p>
            <a:pPr>
              <a:spcBef>
                <a:spcPts val="1800"/>
              </a:spcBef>
            </a:pPr>
            <a:r>
              <a:rPr lang="es-ES" sz="2000" b="0" dirty="0"/>
              <a:t>Base de comparación para gRPC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36E8669-53D2-CEBC-7340-2BBE8DCC8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sz="2000" b="1" dirty="0">
                <a:solidFill>
                  <a:srgbClr val="57BCE5"/>
                </a:solidFill>
                <a:latin typeface="+mj-lt"/>
              </a:rPr>
              <a:t>GraphQL · Strawberry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88A816B-C9DD-00CC-391B-6A1D78B58DC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Autofit/>
          </a:bodyPr>
          <a:lstStyle/>
          <a:p>
            <a:pPr>
              <a:spcBef>
                <a:spcPts val="1800"/>
              </a:spcBef>
            </a:pPr>
            <a:r>
              <a:rPr lang="es-ES" sz="2000" b="0" dirty="0"/>
              <a:t>El cliente elige qué campos pide en </a:t>
            </a:r>
            <a:r>
              <a:rPr lang="es-ES" sz="2000" b="1" dirty="0"/>
              <a:t>una sola consulta</a:t>
            </a:r>
          </a:p>
          <a:p>
            <a:pPr>
              <a:spcBef>
                <a:spcPts val="1800"/>
              </a:spcBef>
            </a:pPr>
            <a:r>
              <a:rPr lang="es-ES" sz="2000" b="0" dirty="0"/>
              <a:t>Campo </a:t>
            </a:r>
            <a:r>
              <a:rPr lang="es-ES" sz="2000" b="0" dirty="0">
                <a:solidFill>
                  <a:srgbClr val="57BCE5"/>
                </a:solidFill>
                <a:latin typeface="+mj-lt"/>
              </a:rPr>
              <a:t>lineage</a:t>
            </a:r>
            <a:r>
              <a:rPr lang="es-ES" sz="2000" b="0" dirty="0"/>
              <a:t> alimentado desde neo4j: la predicción viaja con su linaje</a:t>
            </a:r>
          </a:p>
          <a:p>
            <a:pPr>
              <a:spcBef>
                <a:spcPts val="1800"/>
              </a:spcBef>
            </a:pPr>
            <a:r>
              <a:rPr lang="es-ES" sz="2000" b="0" dirty="0"/>
              <a:t>Mismo modelo de MLflow que REST</a:t>
            </a:r>
          </a:p>
        </p:txBody>
      </p:sp>
    </p:spTree>
    <p:extLst>
      <p:ext uri="{BB962C8B-B14F-4D97-AF65-F5344CB8AC3E}">
        <p14:creationId xmlns:p14="http://schemas.microsoft.com/office/powerpoint/2010/main" val="3879969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EE9EF-8E60-A5CC-69B0-993B61D84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gRPC responde 3x más rápido que REST y con menos variación</a:t>
            </a:r>
          </a:p>
        </p:txBody>
      </p:sp>
      <p:graphicFrame>
        <p:nvGraphicFramePr>
          <p:cNvPr id="100" name="Tabla latencia"/>
          <p:cNvGraphicFramePr>
            <a:graphicFrameLocks noGrp="1"/>
          </p:cNvGraphicFramePr>
          <p:nvPr/>
        </p:nvGraphicFramePr>
        <p:xfrm>
          <a:off x="1524000" y="2260600"/>
          <a:ext cx="5207000" cy="213360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800" b="1" dirty="0">
                          <a:solidFill>
                            <a:srgbClr val="D9D9D9"/>
                          </a:solidFill>
                        </a:rPr>
                        <a:t>Latencia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1" dirty="0">
                          <a:solidFill>
                            <a:srgbClr val="D9D9D9"/>
                          </a:solidFill>
                        </a:rPr>
                        <a:t>REST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1" dirty="0">
                          <a:solidFill>
                            <a:srgbClr val="57BCE5"/>
                          </a:solidFill>
                        </a:rPr>
                        <a:t>gRPC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57BCE5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800" b="1" dirty="0">
                          <a:solidFill>
                            <a:srgbClr val="FFFFFF"/>
                          </a:solidFill>
                        </a:rPr>
                        <a:t>Media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587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0" dirty="0">
                          <a:solidFill>
                            <a:srgbClr val="FFFFFF"/>
                          </a:solidFill>
                        </a:rPr>
                        <a:t>212.20 ms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587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1" dirty="0">
                          <a:solidFill>
                            <a:srgbClr val="57BCE5"/>
                          </a:solidFill>
                        </a:rPr>
                        <a:t>71.11 ms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5875">
                      <a:noFill/>
                    </a:lnT>
                    <a:lnB w="0">
                      <a:noFill/>
                    </a:lnB>
                    <a:solidFill>
                      <a:srgbClr val="57BCE5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800" b="1" dirty="0">
                          <a:solidFill>
                            <a:srgbClr val="FFFFFF"/>
                          </a:solidFill>
                        </a:rPr>
                        <a:t>Mediana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0" dirty="0">
                          <a:solidFill>
                            <a:srgbClr val="FFFFFF"/>
                          </a:solidFill>
                        </a:rPr>
                        <a:t>95.40 ms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0" dirty="0">
                          <a:solidFill>
                            <a:srgbClr val="57BCE5"/>
                          </a:solidFill>
                        </a:rPr>
                        <a:t>72.22 ms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57BCE5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800" b="1" dirty="0">
                          <a:solidFill>
                            <a:srgbClr val="FFFFFF"/>
                          </a:solidFill>
                        </a:rPr>
                        <a:t>p95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0" dirty="0">
                          <a:solidFill>
                            <a:srgbClr val="FFFFFF"/>
                          </a:solidFill>
                        </a:rPr>
                        <a:t>127.14 ms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800" b="0" dirty="0">
                          <a:solidFill>
                            <a:srgbClr val="57BCE5"/>
                          </a:solidFill>
                        </a:rPr>
                        <a:t>93.49 ms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57BCE5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1" name="Etiqueta tabla"/>
          <p:cNvSpPr/>
          <p:nvPr/>
        </p:nvSpPr>
        <p:spPr>
          <a:xfrm>
            <a:off x="1524000" y="1778000"/>
            <a:ext cx="5207000" cy="4064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D9D9D9"/>
                </a:solidFill>
              </a:rPr>
              <a:t>Latencia por request, 50 requests por protocolo, mismo caso</a:t>
            </a:r>
          </a:p>
        </p:txBody>
      </p:sp>
      <p:sp>
        <p:nvSpPr>
          <p:cNvPr id="102" name="Lectura"/>
          <p:cNvSpPr/>
          <p:nvPr/>
        </p:nvSpPr>
        <p:spPr>
          <a:xfrm>
            <a:off x="1524000" y="4597400"/>
            <a:ext cx="5207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50800" rIns="127000" bIns="508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600" b="1" dirty="0">
                <a:solidFill>
                  <a:srgbClr val="57BCE5"/>
                </a:solidFill>
              </a:rPr>
              <a:t>gRPC: </a:t>
            </a:r>
            <a:r>
              <a:rPr lang="es-ES" sz="1600" b="0" dirty="0">
                <a:solidFill>
                  <a:srgbClr val="FFFFFF"/>
                </a:solidFill>
              </a:rPr>
              <a:t>media 3x menor y casi igual a su mediana, sin picos.</a:t>
            </a:r>
          </a:p>
          <a:p>
            <a:pPr marL="0" indent="0" algn="l">
              <a:lnSpc>
                <a:spcPct val="95000"/>
              </a:lnSpc>
              <a:spcBef>
                <a:spcPts val="800"/>
              </a:spcBef>
              <a:buNone/>
            </a:pPr>
            <a:r>
              <a:rPr lang="es-ES" sz="1600" b="1" dirty="0">
                <a:solidFill>
                  <a:srgbClr val="FFFFFF"/>
                </a:solidFill>
              </a:rPr>
              <a:t>REST: </a:t>
            </a:r>
            <a:r>
              <a:rPr lang="es-ES" sz="1600" b="0" dirty="0">
                <a:solidFill>
                  <a:srgbClr val="FFFFFF"/>
                </a:solidFill>
              </a:rPr>
              <a:t>media 2.2x su mediana; los picos ocasionales inflan el promedio.</a:t>
            </a:r>
          </a:p>
        </p:txBody>
      </p:sp>
      <p:sp>
        <p:nvSpPr>
          <p:cNvPr id="103" name="Tarjeta streaming"/>
          <p:cNvSpPr/>
          <p:nvPr/>
        </p:nvSpPr>
        <p:spPr>
          <a:xfrm>
            <a:off x="7239000" y="1778000"/>
            <a:ext cx="3429000" cy="421640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B2B2B2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04" name="Encabezado streaming"/>
          <p:cNvSpPr/>
          <p:nvPr/>
        </p:nvSpPr>
        <p:spPr>
          <a:xfrm>
            <a:off x="7239000" y="18542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0" rIns="1778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800" b="1" dirty="0">
                <a:solidFill>
                  <a:srgbClr val="FFFFFF"/>
                </a:solidFill>
                <a:latin typeface="+mj-lt"/>
              </a:rPr>
              <a:t>Streaming</a:t>
            </a:r>
          </a:p>
        </p:txBody>
      </p:sp>
      <p:sp>
        <p:nvSpPr>
          <p:cNvPr id="105" name="Chip productor"/>
          <p:cNvSpPr/>
          <p:nvPr/>
        </p:nvSpPr>
        <p:spPr>
          <a:xfrm>
            <a:off x="7429500" y="2362200"/>
            <a:ext cx="3048000" cy="381000"/>
          </a:xfrm>
          <a:prstGeom prst="roundRect">
            <a:avLst/>
          </a:prstGeom>
          <a:solidFill>
            <a:srgbClr val="FFFFFF">
              <a:alpha val="11000"/>
            </a:srgbClr>
          </a:solidFill>
          <a:ln>
            <a:noFill/>
          </a:ln>
        </p:spPr>
        <p:txBody>
          <a:bodyPr wrap="square" lIns="76200" tIns="0" rIns="76200" bIns="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productor</a:t>
            </a:r>
            <a:endParaRPr lang="es-ES" sz="1300" b="0" dirty="0">
              <a:solidFill>
                <a:srgbClr val="D9D9D9"/>
              </a:solidFill>
              <a:latin typeface="+mj-lt"/>
            </a:endParaRPr>
          </a:p>
        </p:txBody>
      </p:sp>
      <p:cxnSp>
        <p:nvCxnSpPr>
          <p:cNvPr id="106" name="Flecha 106"/>
          <p:cNvCxnSpPr/>
          <p:nvPr/>
        </p:nvCxnSpPr>
        <p:spPr>
          <a:xfrm>
            <a:off x="8953500" y="2743200"/>
            <a:ext cx="0" cy="254000"/>
          </a:xfrm>
          <a:prstGeom prst="straightConnector1">
            <a:avLst/>
          </a:prstGeom>
          <a:ln w="19050">
            <a:solidFill>
              <a:srgbClr val="D9D9D9"/>
            </a:solidFill>
            <a:tailEnd type="triangle"/>
          </a:ln>
        </p:spPr>
      </p:cxnSp>
      <p:sp>
        <p:nvSpPr>
          <p:cNvPr id="107" name="Chip redpanda"/>
          <p:cNvSpPr/>
          <p:nvPr/>
        </p:nvSpPr>
        <p:spPr>
          <a:xfrm>
            <a:off x="7874000" y="2997200"/>
            <a:ext cx="2159000" cy="38100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57BCE5"/>
            </a:solidFill>
          </a:ln>
        </p:spPr>
        <p:txBody>
          <a:bodyPr wrap="square" lIns="76200" tIns="0" rIns="76200" bIns="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redpanda</a:t>
            </a:r>
          </a:p>
        </p:txBody>
      </p:sp>
      <p:cxnSp>
        <p:nvCxnSpPr>
          <p:cNvPr id="108" name="Flecha 108"/>
          <p:cNvCxnSpPr/>
          <p:nvPr/>
        </p:nvCxnSpPr>
        <p:spPr>
          <a:xfrm>
            <a:off x="8953500" y="3378200"/>
            <a:ext cx="0" cy="254000"/>
          </a:xfrm>
          <a:prstGeom prst="straightConnector1">
            <a:avLst/>
          </a:prstGeom>
          <a:ln w="19050">
            <a:solidFill>
              <a:srgbClr val="D9D9D9"/>
            </a:solidFill>
            <a:tailEnd type="triangle"/>
          </a:ln>
        </p:spPr>
      </p:cxnSp>
      <p:sp>
        <p:nvSpPr>
          <p:cNvPr id="109" name="Chip consumidor"/>
          <p:cNvSpPr/>
          <p:nvPr/>
        </p:nvSpPr>
        <p:spPr>
          <a:xfrm>
            <a:off x="7429500" y="3632200"/>
            <a:ext cx="3048000" cy="381000"/>
          </a:xfrm>
          <a:prstGeom prst="roundRect">
            <a:avLst/>
          </a:prstGeom>
          <a:solidFill>
            <a:srgbClr val="FFFFFF">
              <a:alpha val="11000"/>
            </a:srgbClr>
          </a:solidFill>
          <a:ln>
            <a:noFill/>
          </a:ln>
        </p:spPr>
        <p:txBody>
          <a:bodyPr wrap="square" lIns="76200" tIns="0" rIns="76200" bIns="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400" b="0" dirty="0">
                <a:solidFill>
                  <a:srgbClr val="FFFFFF"/>
                </a:solidFill>
                <a:latin typeface="+mj-lt"/>
              </a:rPr>
              <a:t>consumidor</a:t>
            </a:r>
            <a:endParaRPr lang="es-ES" sz="1300" b="0" dirty="0">
              <a:solidFill>
                <a:srgbClr val="D9D9D9"/>
              </a:solidFill>
              <a:latin typeface="+mj-lt"/>
            </a:endParaRPr>
          </a:p>
        </p:txBody>
      </p:sp>
      <p:sp>
        <p:nvSpPr>
          <p:cNvPr id="110" name="Texto streaming"/>
          <p:cNvSpPr/>
          <p:nvPr/>
        </p:nvSpPr>
        <p:spPr>
          <a:xfrm>
            <a:off x="7239000" y="4191000"/>
            <a:ext cx="3429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50800" rIns="177800" bIns="508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600" b="1" dirty="0">
                <a:solidFill>
                  <a:srgbClr val="F4D968"/>
                </a:solidFill>
              </a:rPr>
              <a:t>Drift no uniforme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ES" sz="1600" b="0" dirty="0">
                <a:solidFill>
                  <a:srgbClr val="FFFFFF"/>
                </a:solidFill>
              </a:rPr>
              <a:t>Ola de calor simulada: 45°C fijos en las 5 ciudades.</a:t>
            </a:r>
          </a:p>
          <a:p>
            <a:pPr marL="0" indent="0" algn="l">
              <a:lnSpc>
                <a:spcPct val="95000"/>
              </a:lnSpc>
              <a:spcBef>
                <a:spcPts val="600"/>
              </a:spcBef>
              <a:buNone/>
            </a:pPr>
            <a:r>
              <a:rPr lang="es-ES" sz="1600" b="1" dirty="0">
                <a:solidFill>
                  <a:srgbClr val="FFFFFF"/>
                </a:solidFill>
              </a:rPr>
              <a:t>Enero–mayo: </a:t>
            </a:r>
            <a:r>
              <a:rPr lang="es-ES" sz="1600" b="0" dirty="0">
                <a:solidFill>
                  <a:srgbClr val="FFFFFF"/>
                </a:solidFill>
              </a:rPr>
              <a:t>casi no se nota.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ES" sz="1600" b="1" dirty="0">
                <a:solidFill>
                  <a:srgbClr val="FFFFFF"/>
                </a:solidFill>
              </a:rPr>
              <a:t>Meses cálidos: </a:t>
            </a:r>
            <a:r>
              <a:rPr lang="es-ES" sz="1600" b="0" dirty="0">
                <a:solidFill>
                  <a:srgbClr val="FFFFFF"/>
                </a:solidFill>
              </a:rPr>
              <a:t>z-score +1.48, sobre el umbral de 1.0.</a:t>
            </a:r>
          </a:p>
        </p:txBody>
      </p:sp>
    </p:spTree>
    <p:extLst>
      <p:ext uri="{BB962C8B-B14F-4D97-AF65-F5344CB8AC3E}">
        <p14:creationId xmlns:p14="http://schemas.microsoft.com/office/powerpoint/2010/main" val="556825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B7164-0807-D9E4-500C-981A41D7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El Data Lake separa datos crudos, curados y modelo versionado</a:t>
            </a:r>
          </a:p>
        </p:txBody>
      </p:sp>
      <p:sp>
        <p:nvSpPr>
          <p:cNvPr id="100" name="Etiqueta bucket"/>
          <p:cNvSpPr/>
          <p:nvPr/>
        </p:nvSpPr>
        <p:spPr>
          <a:xfrm>
            <a:off x="1524000" y="1778000"/>
            <a:ext cx="914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600" b="0" dirty="0">
                <a:solidFill>
                  <a:srgbClr val="D9D9D9"/>
                </a:solidFill>
              </a:rPr>
              <a:t>Bucket </a:t>
            </a:r>
            <a:r>
              <a:rPr lang="es-ES" sz="1600" b="0" dirty="0">
                <a:solidFill>
                  <a:srgbClr val="57BCE5"/>
                </a:solidFill>
                <a:latin typeface="+mj-lt"/>
              </a:rPr>
              <a:t>datalake</a:t>
            </a:r>
            <a:r>
              <a:rPr lang="es-ES" sz="1600" b="0" dirty="0">
                <a:solidFill>
                  <a:srgbClr val="D9D9D9"/>
                </a:solidFill>
              </a:rPr>
              <a:t> en MinIO, separado del bucket interno de MLflow</a:t>
            </a:r>
          </a:p>
        </p:txBody>
      </p:sp>
      <p:sp>
        <p:nvSpPr>
          <p:cNvPr id="101" name="Zona raw/"/>
          <p:cNvSpPr/>
          <p:nvPr/>
        </p:nvSpPr>
        <p:spPr>
          <a:xfrm>
            <a:off x="1524000" y="2336800"/>
            <a:ext cx="2667000" cy="271780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B2B2B2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02" name="Carpeta raw/"/>
          <p:cNvSpPr/>
          <p:nvPr/>
        </p:nvSpPr>
        <p:spPr>
          <a:xfrm>
            <a:off x="1524000" y="24384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0" rIns="1778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2400" b="0" dirty="0">
                <a:solidFill>
                  <a:srgbClr val="FFFFFF"/>
                </a:solidFill>
                <a:latin typeface="+mj-lt"/>
              </a:rPr>
              <a:t>raw/</a:t>
            </a:r>
          </a:p>
        </p:txBody>
      </p:sp>
      <p:sp>
        <p:nvSpPr>
          <p:cNvPr id="103" name="Rol raw/"/>
          <p:cNvSpPr/>
          <p:nvPr/>
        </p:nvSpPr>
        <p:spPr>
          <a:xfrm>
            <a:off x="1524000" y="294640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0" rIns="1778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600" b="1" dirty="0">
                <a:solidFill>
                  <a:srgbClr val="D9D9D9"/>
                </a:solidFill>
              </a:rPr>
              <a:t>Datos crudos</a:t>
            </a:r>
          </a:p>
        </p:txBody>
      </p:sp>
      <p:sp>
        <p:nvSpPr>
          <p:cNvPr id="104" name="Detalle raw/"/>
          <p:cNvSpPr/>
          <p:nvPr/>
        </p:nvSpPr>
        <p:spPr>
          <a:xfrm>
            <a:off x="1524000" y="3403600"/>
            <a:ext cx="2667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50800" rIns="152400" bIns="50800" rtlCol="0" anchor="t">
            <a:noAutofit/>
          </a:bodyPr>
          <a:lstStyle/>
          <a:p>
            <a:pPr marL="228600" indent="-228600" algn="l">
              <a:lnSpc>
                <a:spcPct val="95000"/>
              </a:lnSpc>
              <a:spcBef>
                <a:spcPts val="0"/>
              </a:spcBef>
              <a:buFont typeface="Arial"/>
              <a:buChar char="▪"/>
            </a:pPr>
            <a:r>
              <a:rPr lang="es-ES" sz="1600" b="0" dirty="0">
                <a:solidFill>
                  <a:srgbClr val="FFFFFF"/>
                </a:solidFill>
              </a:rPr>
              <a:t>CSVs originales de Kaggle (ENTSO-E + clima)</a:t>
            </a:r>
          </a:p>
          <a:p>
            <a:pPr marL="228600" indent="-228600" algn="l">
              <a:lnSpc>
                <a:spcPct val="95000"/>
              </a:lnSpc>
              <a:spcBef>
                <a:spcPts val="800"/>
              </a:spcBef>
              <a:buFont typeface="Arial"/>
              <a:buChar char="▪"/>
            </a:pPr>
            <a:r>
              <a:rPr lang="es-ES" sz="1600" b="0" dirty="0">
                <a:solidFill>
                  <a:srgbClr val="FFFFFF"/>
                </a:solidFill>
              </a:rPr>
              <a:t>Sin transformar: se puede reprocesar desde cero</a:t>
            </a:r>
          </a:p>
        </p:txBody>
      </p:sp>
      <p:sp>
        <p:nvSpPr>
          <p:cNvPr id="105" name="Flecha 0"/>
          <p:cNvSpPr/>
          <p:nvPr/>
        </p:nvSpPr>
        <p:spPr>
          <a:xfrm>
            <a:off x="4318000" y="3568700"/>
            <a:ext cx="317500" cy="35560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06" name="Zona curated/"/>
          <p:cNvSpPr/>
          <p:nvPr/>
        </p:nvSpPr>
        <p:spPr>
          <a:xfrm>
            <a:off x="4762500" y="2336800"/>
            <a:ext cx="2667000" cy="271780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B2B2B2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07" name="Carpeta curated/"/>
          <p:cNvSpPr/>
          <p:nvPr/>
        </p:nvSpPr>
        <p:spPr>
          <a:xfrm>
            <a:off x="4762500" y="24384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0" rIns="1778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2400" b="0" dirty="0">
                <a:solidFill>
                  <a:srgbClr val="FFFFFF"/>
                </a:solidFill>
                <a:latin typeface="+mj-lt"/>
              </a:rPr>
              <a:t>curated/</a:t>
            </a:r>
          </a:p>
        </p:txBody>
      </p:sp>
      <p:sp>
        <p:nvSpPr>
          <p:cNvPr id="108" name="Rol curated/"/>
          <p:cNvSpPr/>
          <p:nvPr/>
        </p:nvSpPr>
        <p:spPr>
          <a:xfrm>
            <a:off x="4762500" y="294640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0" rIns="1778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600" b="1" dirty="0">
                <a:solidFill>
                  <a:srgbClr val="D9D9D9"/>
                </a:solidFill>
              </a:rPr>
              <a:t>Datos limpios</a:t>
            </a:r>
          </a:p>
        </p:txBody>
      </p:sp>
      <p:sp>
        <p:nvSpPr>
          <p:cNvPr id="109" name="Detalle curated/"/>
          <p:cNvSpPr/>
          <p:nvPr/>
        </p:nvSpPr>
        <p:spPr>
          <a:xfrm>
            <a:off x="4762500" y="3403600"/>
            <a:ext cx="2667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50800" rIns="152400" bIns="50800" rtlCol="0" anchor="t">
            <a:noAutofit/>
          </a:bodyPr>
          <a:lstStyle/>
          <a:p>
            <a:pPr marL="228600" indent="-228600" algn="l">
              <a:lnSpc>
                <a:spcPct val="95000"/>
              </a:lnSpc>
              <a:spcBef>
                <a:spcPts val="0"/>
              </a:spcBef>
              <a:buFont typeface="Arial"/>
              <a:buChar char="▪"/>
            </a:pPr>
            <a:r>
              <a:rPr lang="es-ES" sz="1600" b="0" dirty="0">
                <a:solidFill>
                  <a:srgbClr val="FFFFFF"/>
                </a:solidFill>
              </a:rPr>
              <a:t>Parquet limpio, después del feature engineering</a:t>
            </a:r>
          </a:p>
          <a:p>
            <a:pPr marL="228600" indent="-228600" algn="l">
              <a:lnSpc>
                <a:spcPct val="95000"/>
              </a:lnSpc>
              <a:spcBef>
                <a:spcPts val="800"/>
              </a:spcBef>
              <a:buFont typeface="Arial"/>
              <a:buChar char="▪"/>
            </a:pPr>
            <a:r>
              <a:rPr lang="es-ES" sz="1600" b="0" dirty="0">
                <a:solidFill>
                  <a:srgbClr val="FFFFFF"/>
                </a:solidFill>
              </a:rPr>
              <a:t>Lo que consume el entrenamiento</a:t>
            </a:r>
          </a:p>
        </p:txBody>
      </p:sp>
      <p:sp>
        <p:nvSpPr>
          <p:cNvPr id="110" name="Flecha 1"/>
          <p:cNvSpPr/>
          <p:nvPr/>
        </p:nvSpPr>
        <p:spPr>
          <a:xfrm>
            <a:off x="7556500" y="3568700"/>
            <a:ext cx="317500" cy="35560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11" name="Zona models/v1/"/>
          <p:cNvSpPr/>
          <p:nvPr/>
        </p:nvSpPr>
        <p:spPr>
          <a:xfrm>
            <a:off x="8001000" y="2336800"/>
            <a:ext cx="2667000" cy="271780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57BCE5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12" name="Carpeta models/v1/"/>
          <p:cNvSpPr/>
          <p:nvPr/>
        </p:nvSpPr>
        <p:spPr>
          <a:xfrm>
            <a:off x="8001000" y="24384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0" rIns="1778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2400" b="0" dirty="0">
                <a:solidFill>
                  <a:srgbClr val="57BCE5"/>
                </a:solidFill>
                <a:latin typeface="+mj-lt"/>
              </a:rPr>
              <a:t>models/v1/</a:t>
            </a:r>
          </a:p>
        </p:txBody>
      </p:sp>
      <p:sp>
        <p:nvSpPr>
          <p:cNvPr id="113" name="Rol models/v1/"/>
          <p:cNvSpPr/>
          <p:nvPr/>
        </p:nvSpPr>
        <p:spPr>
          <a:xfrm>
            <a:off x="8001000" y="294640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0" rIns="1778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600" b="1" dirty="0">
                <a:solidFill>
                  <a:srgbClr val="D9D9D9"/>
                </a:solidFill>
              </a:rPr>
              <a:t>Modelo versionado</a:t>
            </a:r>
          </a:p>
        </p:txBody>
      </p:sp>
      <p:sp>
        <p:nvSpPr>
          <p:cNvPr id="114" name="Detalle models/v1/"/>
          <p:cNvSpPr/>
          <p:nvPr/>
        </p:nvSpPr>
        <p:spPr>
          <a:xfrm>
            <a:off x="8001000" y="3403600"/>
            <a:ext cx="2667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50800" rIns="152400" bIns="50800" rtlCol="0" anchor="t">
            <a:noAutofit/>
          </a:bodyPr>
          <a:lstStyle/>
          <a:p>
            <a:pPr marL="228600" indent="-228600" algn="l">
              <a:lnSpc>
                <a:spcPct val="95000"/>
              </a:lnSpc>
              <a:spcBef>
                <a:spcPts val="0"/>
              </a:spcBef>
              <a:buFont typeface="Arial"/>
              <a:buChar char="▪"/>
            </a:pPr>
            <a:r>
              <a:rPr lang="es-ES" sz="1600" b="0" dirty="0">
                <a:solidFill>
                  <a:srgbClr val="FFFFFF"/>
                </a:solidFill>
              </a:rPr>
              <a:t>Random Forest serializado, ~32 MB</a:t>
            </a:r>
          </a:p>
          <a:p>
            <a:pPr marL="228600" indent="-228600" algn="l">
              <a:lnSpc>
                <a:spcPct val="95000"/>
              </a:lnSpc>
              <a:spcBef>
                <a:spcPts val="800"/>
              </a:spcBef>
              <a:buFont typeface="Arial"/>
              <a:buChar char="▪"/>
            </a:pPr>
            <a:r>
              <a:rPr lang="es-ES" sz="1600" b="0" dirty="0">
                <a:solidFill>
                  <a:srgbClr val="FFFFFF"/>
                </a:solidFill>
              </a:rPr>
              <a:t>Checksum para verificar integridad</a:t>
            </a:r>
          </a:p>
        </p:txBody>
      </p:sp>
      <p:sp>
        <p:nvSpPr>
          <p:cNvPr id="115" name="Nota DAG"/>
          <p:cNvSpPr/>
          <p:nvPr/>
        </p:nvSpPr>
        <p:spPr>
          <a:xfrm>
            <a:off x="1524000" y="5207000"/>
            <a:ext cx="914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s-ES" sz="1600" b="0" dirty="0">
                <a:solidFill>
                  <a:srgbClr val="D9D9D9"/>
                </a:solidFill>
              </a:rPr>
              <a:t>El DAG de Airflow que reentrena el modelo es quien publica en este bucket.</a:t>
            </a:r>
          </a:p>
        </p:txBody>
      </p:sp>
      <p:sp>
        <p:nvSpPr>
          <p:cNvPr id="140" name="Por qué bucket separado"/>
          <p:cNvSpPr/>
          <p:nvPr/>
        </p:nvSpPr>
        <p:spPr>
          <a:xfrm>
            <a:off x="1524000" y="5715000"/>
            <a:ext cx="9144000" cy="68580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57BCE5"/>
            </a:solidFill>
          </a:ln>
        </p:spPr>
        <p:txBody>
          <a:bodyPr wrap="square" lIns="177800" tIns="76200" rIns="177800" bIns="76200" anchor="ctr">
            <a:no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s-ES" sz="1600" b="1" dirty="0">
                <a:solidFill>
                  <a:srgbClr val="57BCE5"/>
                </a:solidFill>
              </a:rPr>
              <a:t>Por qué un bucket separado del de MLflow: </a:t>
            </a:r>
            <a:r>
              <a:rPr lang="es-ES" sz="1600" b="0" dirty="0">
                <a:solidFill>
                  <a:srgbClr val="FFFFFF"/>
                </a:solidFill>
              </a:rPr>
              <a:t>este lo controla el proyecto, con su propia estructura y su propio checksum de integridad.</a:t>
            </a:r>
          </a:p>
        </p:txBody>
      </p:sp>
    </p:spTree>
    <p:extLst>
      <p:ext uri="{BB962C8B-B14F-4D97-AF65-F5344CB8AC3E}">
        <p14:creationId xmlns:p14="http://schemas.microsoft.com/office/powerpoint/2010/main" val="2845066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6C7A5-0D4C-4CF0-95BA-7EE0F2DE9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Cada capa expuesta del sistema tiene un control de seguridad activo</a:t>
            </a:r>
          </a:p>
        </p:txBody>
      </p:sp>
      <p:sp>
        <p:nvSpPr>
          <p:cNvPr id="200" name="Encabezado capa"/>
          <p:cNvSpPr txBox="1"/>
          <p:nvPr/>
        </p:nvSpPr>
        <p:spPr>
          <a:xfrm>
            <a:off x="1524000" y="17526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ES" sz="1400" b="0" dirty="0">
                <a:solidFill>
                  <a:srgbClr val="D9D9D9"/>
                </a:solidFill>
              </a:rPr>
              <a:t>Capa</a:t>
            </a:r>
          </a:p>
        </p:txBody>
      </p:sp>
      <p:sp>
        <p:nvSpPr>
          <p:cNvPr id="201" name="Encabezado control"/>
          <p:cNvSpPr txBox="1"/>
          <p:nvPr/>
        </p:nvSpPr>
        <p:spPr>
          <a:xfrm>
            <a:off x="3492500" y="1752600"/>
            <a:ext cx="71755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ES" sz="1400" b="0" dirty="0">
                <a:solidFill>
                  <a:srgbClr val="D9D9D9"/>
                </a:solidFill>
              </a:rPr>
              <a:t>Control aplicado</a:t>
            </a:r>
          </a:p>
        </p:txBody>
      </p:sp>
      <p:cxnSp>
        <p:nvCxnSpPr>
          <p:cNvPr id="203" name="Separador 203"/>
          <p:cNvCxnSpPr/>
          <p:nvPr/>
        </p:nvCxnSpPr>
        <p:spPr>
          <a:xfrm>
            <a:off x="1524000" y="2108200"/>
            <a:ext cx="9144000" cy="0"/>
          </a:xfrm>
          <a:prstGeom prst="line">
            <a:avLst/>
          </a:prstGeom>
          <a:ln w="15875">
            <a:solidFill>
              <a:srgbClr val="B2B2B2"/>
            </a:solidFill>
          </a:ln>
        </p:spPr>
      </p:cxnSp>
      <p:sp>
        <p:nvSpPr>
          <p:cNvPr id="204" name="Capa REST"/>
          <p:cNvSpPr txBox="1"/>
          <p:nvPr/>
        </p:nvSpPr>
        <p:spPr>
          <a:xfrm>
            <a:off x="1524000" y="2108200"/>
            <a:ext cx="1905000" cy="685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ES" sz="1800" b="1" dirty="0">
                <a:solidFill>
                  <a:srgbClr val="FFFFFF"/>
                </a:solidFill>
                <a:latin typeface="+mj-lt"/>
              </a:rPr>
              <a:t>REST</a:t>
            </a:r>
          </a:p>
        </p:txBody>
      </p:sp>
      <p:sp>
        <p:nvSpPr>
          <p:cNvPr id="205" name="Control REST"/>
          <p:cNvSpPr txBox="1"/>
          <p:nvPr/>
        </p:nvSpPr>
        <p:spPr>
          <a:xfrm>
            <a:off x="3492500" y="2108200"/>
            <a:ext cx="7175500" cy="685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ES" sz="1600" b="0" dirty="0">
                <a:solidFill>
                  <a:srgbClr val="FFFFFF"/>
                </a:solidFill>
              </a:rPr>
              <a:t>API key para predecir + rate limiting (requests/minuto) + JWT por rol para métricas internas + registro de auditoría</a:t>
            </a:r>
          </a:p>
        </p:txBody>
      </p:sp>
      <p:cxnSp>
        <p:nvCxnSpPr>
          <p:cNvPr id="207" name="Separador 207"/>
          <p:cNvCxnSpPr/>
          <p:nvPr/>
        </p:nvCxnSpPr>
        <p:spPr>
          <a:xfrm>
            <a:off x="1524000" y="2794000"/>
            <a:ext cx="9144000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8" name="Capa gRPC"/>
          <p:cNvSpPr txBox="1"/>
          <p:nvPr/>
        </p:nvSpPr>
        <p:spPr>
          <a:xfrm>
            <a:off x="1524000" y="2794000"/>
            <a:ext cx="1905000" cy="685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ES" sz="1800" b="1" dirty="0">
                <a:solidFill>
                  <a:srgbClr val="FFFFFF"/>
                </a:solidFill>
                <a:latin typeface="+mj-lt"/>
              </a:rPr>
              <a:t>gRPC</a:t>
            </a:r>
          </a:p>
        </p:txBody>
      </p:sp>
      <p:sp>
        <p:nvSpPr>
          <p:cNvPr id="209" name="Control gRPC"/>
          <p:cNvSpPr txBox="1"/>
          <p:nvPr/>
        </p:nvSpPr>
        <p:spPr>
          <a:xfrm>
            <a:off x="3492500" y="2794000"/>
            <a:ext cx="7175500" cy="685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ES" sz="1600" b="0" dirty="0">
                <a:solidFill>
                  <a:srgbClr val="FFFFFF"/>
                </a:solidFill>
              </a:rPr>
              <a:t>mismo JWT verificado por interceptor + límite de tamaño de mensaje</a:t>
            </a:r>
          </a:p>
        </p:txBody>
      </p:sp>
      <p:cxnSp>
        <p:nvCxnSpPr>
          <p:cNvPr id="211" name="Separador 211"/>
          <p:cNvCxnSpPr/>
          <p:nvPr/>
        </p:nvCxnSpPr>
        <p:spPr>
          <a:xfrm>
            <a:off x="1524000" y="3479800"/>
            <a:ext cx="9144000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12" name="Capa GraphQL"/>
          <p:cNvSpPr txBox="1"/>
          <p:nvPr/>
        </p:nvSpPr>
        <p:spPr>
          <a:xfrm>
            <a:off x="1524000" y="3479800"/>
            <a:ext cx="1905000" cy="685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ES" sz="1800" b="1" dirty="0">
                <a:solidFill>
                  <a:srgbClr val="FFFFFF"/>
                </a:solidFill>
                <a:latin typeface="+mj-lt"/>
              </a:rPr>
              <a:t>GraphQL</a:t>
            </a:r>
          </a:p>
        </p:txBody>
      </p:sp>
      <p:sp>
        <p:nvSpPr>
          <p:cNvPr id="213" name="Control GraphQL"/>
          <p:cNvSpPr txBox="1"/>
          <p:nvPr/>
        </p:nvSpPr>
        <p:spPr>
          <a:xfrm>
            <a:off x="3492500" y="3479800"/>
            <a:ext cx="7175500" cy="685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ES" sz="1600" b="0" dirty="0">
                <a:solidFill>
                  <a:srgbClr val="FFFFFF"/>
                </a:solidFill>
              </a:rPr>
              <a:t>mismo JWT para el campo lineage + límite de profundidad de consulta + introspección deshabilitada</a:t>
            </a:r>
          </a:p>
        </p:txBody>
      </p:sp>
      <p:cxnSp>
        <p:nvCxnSpPr>
          <p:cNvPr id="215" name="Separador 215"/>
          <p:cNvCxnSpPr/>
          <p:nvPr/>
        </p:nvCxnSpPr>
        <p:spPr>
          <a:xfrm>
            <a:off x="1524000" y="4165600"/>
            <a:ext cx="9144000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16" name="Capa Streaming"/>
          <p:cNvSpPr txBox="1"/>
          <p:nvPr/>
        </p:nvSpPr>
        <p:spPr>
          <a:xfrm>
            <a:off x="1524000" y="4165600"/>
            <a:ext cx="1905000" cy="685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ES" sz="1800" b="1" dirty="0">
                <a:solidFill>
                  <a:srgbClr val="FFFFFF"/>
                </a:solidFill>
                <a:latin typeface="+mj-lt"/>
              </a:rPr>
              <a:t>Streaming</a:t>
            </a:r>
          </a:p>
        </p:txBody>
      </p:sp>
      <p:sp>
        <p:nvSpPr>
          <p:cNvPr id="217" name="Control Streaming"/>
          <p:cNvSpPr txBox="1"/>
          <p:nvPr/>
        </p:nvSpPr>
        <p:spPr>
          <a:xfrm>
            <a:off x="3492500" y="4165600"/>
            <a:ext cx="7175500" cy="685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ES" sz="1600" b="0" dirty="0">
                <a:solidFill>
                  <a:srgbClr val="FFFFFF"/>
                </a:solidFill>
              </a:rPr>
              <a:t>firma HMAC + validación de rangos + cuarentena (DLQ) + registro de auditoría</a:t>
            </a:r>
          </a:p>
        </p:txBody>
      </p:sp>
      <p:cxnSp>
        <p:nvCxnSpPr>
          <p:cNvPr id="219" name="Separador 219"/>
          <p:cNvCxnSpPr/>
          <p:nvPr/>
        </p:nvCxnSpPr>
        <p:spPr>
          <a:xfrm>
            <a:off x="1524000" y="4851400"/>
            <a:ext cx="9144000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20" name="Capa Data Lake"/>
          <p:cNvSpPr txBox="1"/>
          <p:nvPr/>
        </p:nvSpPr>
        <p:spPr>
          <a:xfrm>
            <a:off x="1524000" y="4851400"/>
            <a:ext cx="1905000" cy="685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ES" sz="1800" b="1" dirty="0">
                <a:solidFill>
                  <a:srgbClr val="FFFFFF"/>
                </a:solidFill>
                <a:latin typeface="+mj-lt"/>
              </a:rPr>
              <a:t>Data Lake</a:t>
            </a:r>
          </a:p>
        </p:txBody>
      </p:sp>
      <p:sp>
        <p:nvSpPr>
          <p:cNvPr id="221" name="Control Data Lake"/>
          <p:cNvSpPr txBox="1"/>
          <p:nvPr/>
        </p:nvSpPr>
        <p:spPr>
          <a:xfrm>
            <a:off x="3492500" y="4851400"/>
            <a:ext cx="7175500" cy="6858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ES" sz="1600" b="0" dirty="0">
                <a:solidFill>
                  <a:srgbClr val="FFFFFF"/>
                </a:solidFill>
              </a:rPr>
              <a:t>checksum SHA-256 verificado en cada carga del modelo</a:t>
            </a:r>
          </a:p>
        </p:txBody>
      </p:sp>
      <p:cxnSp>
        <p:nvCxnSpPr>
          <p:cNvPr id="223" name="Separador 223"/>
          <p:cNvCxnSpPr/>
          <p:nvPr/>
        </p:nvCxnSpPr>
        <p:spPr>
          <a:xfrm>
            <a:off x="1524000" y="5537200"/>
            <a:ext cx="9144000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24" name="Nota JWT"/>
          <p:cNvSpPr txBox="1"/>
          <p:nvPr/>
        </p:nvSpPr>
        <p:spPr>
          <a:xfrm>
            <a:off x="1524000" y="568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ES" sz="1400" b="1" dirty="0">
                <a:solidFill>
                  <a:srgbClr val="F4D968"/>
                </a:solidFill>
              </a:rPr>
              <a:t>Mismo JWT por rol en las tres APIs: </a:t>
            </a:r>
            <a:r>
              <a:rPr lang="es-ES" sz="1400" b="0" dirty="0">
                <a:solidFill>
                  <a:srgbClr val="D9D9D9"/>
                </a:solidFill>
              </a:rPr>
              <a:t>no hay una solución de autenticación distinta por protocolo.</a:t>
            </a:r>
          </a:p>
        </p:txBody>
      </p:sp>
    </p:spTree>
    <p:extLst>
      <p:ext uri="{BB962C8B-B14F-4D97-AF65-F5344CB8AC3E}">
        <p14:creationId xmlns:p14="http://schemas.microsoft.com/office/powerpoint/2010/main" val="1294400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7CF5B1-BD77-4880-B3BC-392AFED13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Cierre y conclusiones</a:t>
            </a:r>
          </a:p>
        </p:txBody>
      </p:sp>
      <p:sp>
        <p:nvSpPr>
          <p:cNvPr id="100" name="Conclusión sistema"/>
          <p:cNvSpPr/>
          <p:nvPr/>
        </p:nvSpPr>
        <p:spPr>
          <a:xfrm>
            <a:off x="1524000" y="1841500"/>
            <a:ext cx="4445000" cy="33655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57BCE5"/>
            </a:solidFill>
          </a:ln>
        </p:spPr>
        <p:txBody>
          <a:bodyPr wrap="square" lIns="203200" tIns="177800" rIns="203200" bIns="17780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2000" b="1" dirty="0">
                <a:solidFill>
                  <a:srgbClr val="FFFFFF"/>
                </a:solidFill>
                <a:latin typeface="+mj-lt"/>
              </a:rPr>
              <a:t>Sistema integrado de punta a punta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s-ES" sz="1600" b="1" dirty="0">
                <a:solidFill>
                  <a:srgbClr val="57BCE5"/>
                </a:solidFill>
              </a:rPr>
              <a:t>Servicio: </a:t>
            </a:r>
            <a:r>
              <a:rPr lang="es-ES" sz="1600" b="0" dirty="0">
                <a:solidFill>
                  <a:srgbClr val="FFFFFF"/>
                </a:solidFill>
              </a:rPr>
              <a:t>mismo modelo por REST, GraphQL, gRPC y streaming.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s-ES" sz="1600" b="1" dirty="0">
                <a:solidFill>
                  <a:srgbClr val="57BCE5"/>
                </a:solidFill>
              </a:rPr>
              <a:t>Reentrenamiento: </a:t>
            </a:r>
            <a:r>
              <a:rPr lang="es-ES" sz="1600" b="0" dirty="0">
                <a:solidFill>
                  <a:srgbClr val="FFFFFF"/>
                </a:solidFill>
              </a:rPr>
              <a:t>automático y semanal con Airflow.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s-ES" sz="1600" b="1" dirty="0">
                <a:solidFill>
                  <a:srgbClr val="57BCE5"/>
                </a:solidFill>
              </a:rPr>
              <a:t>Trazabilidad: </a:t>
            </a:r>
            <a:r>
              <a:rPr lang="es-ES" sz="1600" b="0" dirty="0">
                <a:solidFill>
                  <a:srgbClr val="FFFFFF"/>
                </a:solidFill>
              </a:rPr>
              <a:t>versionado en MLflow y Data Lake.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s-ES" sz="1600" b="1" dirty="0">
                <a:solidFill>
                  <a:srgbClr val="57BCE5"/>
                </a:solidFill>
              </a:rPr>
              <a:t>Seguridad: </a:t>
            </a:r>
            <a:r>
              <a:rPr lang="es-ES" sz="1600" b="0" dirty="0">
                <a:solidFill>
                  <a:srgbClr val="FFFFFF"/>
                </a:solidFill>
              </a:rPr>
              <a:t>un control activo en cada capa.</a:t>
            </a:r>
          </a:p>
        </p:txBody>
      </p:sp>
      <p:sp>
        <p:nvSpPr>
          <p:cNvPr id="101" name="Conclusión proceso"/>
          <p:cNvSpPr/>
          <p:nvPr/>
        </p:nvSpPr>
        <p:spPr>
          <a:xfrm>
            <a:off x="6223000" y="1841500"/>
            <a:ext cx="4445000" cy="336550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B2B2B2"/>
            </a:solidFill>
          </a:ln>
        </p:spPr>
        <p:txBody>
          <a:bodyPr wrap="square" lIns="203200" tIns="177800" rIns="203200" bIns="17780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2000" b="1" dirty="0">
                <a:solidFill>
                  <a:srgbClr val="FFFFFF"/>
                </a:solidFill>
                <a:latin typeface="+mj-lt"/>
              </a:rPr>
              <a:t>Las decisiones que salieron de problemas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s-ES" sz="1600" b="1" dirty="0">
                <a:solidFill>
                  <a:srgbClr val="57BCE5"/>
                </a:solidFill>
              </a:rPr>
              <a:t>Leakage: </a:t>
            </a:r>
            <a:r>
              <a:rPr lang="es-ES" sz="1600" b="0" dirty="0">
                <a:solidFill>
                  <a:srgbClr val="FFFFFF"/>
                </a:solidFill>
              </a:rPr>
              <a:t>detectado por la importancia de variables.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s-ES" sz="1600" b="1" dirty="0">
                <a:solidFill>
                  <a:srgbClr val="57BCE5"/>
                </a:solidFill>
              </a:rPr>
              <a:t>Dependencias: </a:t>
            </a:r>
            <a:r>
              <a:rPr lang="es-ES" sz="1600" b="0" dirty="0">
                <a:solidFill>
                  <a:srgbClr val="FFFFFF"/>
                </a:solidFill>
              </a:rPr>
              <a:t>conflicto Airflow/</a:t>
            </a:r>
            <a:r>
              <a:rPr lang="es-ES" sz="1600" b="0" dirty="0" err="1">
                <a:solidFill>
                  <a:srgbClr val="FFFFFF"/>
                </a:solidFill>
              </a:rPr>
              <a:t>MLflow</a:t>
            </a:r>
            <a:r>
              <a:rPr lang="es-ES" sz="1600" b="0" dirty="0">
                <a:solidFill>
                  <a:srgbClr val="FFFFFF"/>
                </a:solidFill>
              </a:rPr>
              <a:t> resuelto.</a:t>
            </a:r>
          </a:p>
        </p:txBody>
      </p:sp>
      <p:sp>
        <p:nvSpPr>
          <p:cNvPr id="102" name="Nota próximas mejoras"/>
          <p:cNvSpPr/>
          <p:nvPr/>
        </p:nvSpPr>
        <p:spPr>
          <a:xfrm>
            <a:off x="1524000" y="5651500"/>
            <a:ext cx="914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400" b="1" dirty="0">
                <a:solidFill>
                  <a:srgbClr val="D9D9D9"/>
                </a:solidFill>
              </a:rPr>
              <a:t>Próximas mejoras de madurez operacional: </a:t>
            </a:r>
            <a:r>
              <a:rPr lang="es-ES" sz="1400" b="0" dirty="0">
                <a:solidFill>
                  <a:srgbClr val="D9D9D9"/>
                </a:solidFill>
              </a:rPr>
              <a:t>rotación de claves y políticas de acceso en </a:t>
            </a:r>
            <a:r>
              <a:rPr lang="es-ES" sz="1400" b="0" dirty="0" err="1">
                <a:solidFill>
                  <a:srgbClr val="D9D9D9"/>
                </a:solidFill>
              </a:rPr>
              <a:t>MinIO</a:t>
            </a:r>
            <a:r>
              <a:rPr lang="es-ES" sz="1400" b="0" dirty="0">
                <a:solidFill>
                  <a:srgbClr val="D9D9D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0410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1AF9E-DE47-DF61-23BD-EAF8BF5C73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Muchas gracias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5FF4AF-9FB1-3712-E7E4-D163EE77AE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Demostración</a:t>
            </a:r>
          </a:p>
        </p:txBody>
      </p:sp>
    </p:spTree>
    <p:extLst>
      <p:ext uri="{BB962C8B-B14F-4D97-AF65-F5344CB8AC3E}">
        <p14:creationId xmlns:p14="http://schemas.microsoft.com/office/powerpoint/2010/main" val="63289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 16 x 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29500_TF02804846_TF02804846" id="{65FD6923-A55A-4D8A-AB6E-792F5126A260}" vid="{862C69AA-365A-4DD1-97BC-168A1699736E}"/>
    </a:ext>
  </a:extLst>
</a:theme>
</file>

<file path=ppt/theme/theme2.xml><?xml version="1.0" encoding="utf-8"?>
<a:theme xmlns:a="http://schemas.openxmlformats.org/drawingml/2006/main" name="Tema de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9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25B316-6FEC-4B86-8EAE-9C39CAF3C31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83883bb-2761-4795-abf0-fa36fa644c1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pizarra para el ámbito educativo (panorámica)</Template>
  <TotalTime>2047</TotalTime>
  <Words>852</Words>
  <Application>Microsoft Office PowerPoint</Application>
  <PresentationFormat>Personalizado</PresentationFormat>
  <Paragraphs>133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Consolas</vt:lpstr>
      <vt:lpstr>Corbel</vt:lpstr>
      <vt:lpstr>Pizarra 16 x 9</vt:lpstr>
      <vt:lpstr>Forecasting de demanda eléctrica en España</vt:lpstr>
      <vt:lpstr>Objetivo modelo: predecir la demanda eléctrica horaria real de España</vt:lpstr>
      <vt:lpstr>Random Forest tuneado ganó: MAE 1736.8 MW y MAPE 6.00% en 2018</vt:lpstr>
      <vt:lpstr>13 servicios alrededor de un modelo registrado en MLflow</vt:lpstr>
      <vt:lpstr>REST y GraphQL sirven el mismo modelo; GraphQL agrega linaje</vt:lpstr>
      <vt:lpstr>gRPC responde 3x más rápido que REST y con menos variación</vt:lpstr>
      <vt:lpstr>El Data Lake separa datos crudos, curados y modelo versionado</vt:lpstr>
      <vt:lpstr>Cada capa expuesta del sistema tiene un control de seguridad activo</vt:lpstr>
      <vt:lpstr>Cierre y conclusiones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Vignolo</dc:creator>
  <cp:lastModifiedBy>Alan Vignolo</cp:lastModifiedBy>
  <cp:revision>8</cp:revision>
  <dcterms:created xsi:type="dcterms:W3CDTF">2026-10-14T13:46:56Z</dcterms:created>
  <dcterms:modified xsi:type="dcterms:W3CDTF">2026-10-15T23:54:29Z</dcterms:modified>
</cp:coreProperties>
</file>